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4"/>
    <p:restoredTop sz="94758"/>
  </p:normalViewPr>
  <p:slideViewPr>
    <p:cSldViewPr snapToGrid="0">
      <p:cViewPr varScale="1">
        <p:scale>
          <a:sx n="122" d="100"/>
          <a:sy n="122" d="100"/>
        </p:scale>
        <p:origin x="21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DDDBF-D2F2-A34E-9372-E8CEDEF5FBAC}" type="datetimeFigureOut">
              <a:rPr lang="sv-SE" smtClean="0"/>
              <a:t>2025-11-04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1F5B3-9B52-7948-A2A5-1C0B44A303D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6174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1F5B3-9B52-7948-A2A5-1C0B44A303DB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12915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1F5B3-9B52-7948-A2A5-1C0B44A303DB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80909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Rubrik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sv-SE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vsnittsrubri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v-SE"/>
              <a:t>Klicka på ikonen för att lägga till en bild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v-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604088-60E0-CC0D-1364-254517F0BA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 err="1"/>
              <a:t>Playing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Corners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E84666B4-0A0C-7EB7-15A1-D3DD5B68FF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 dirty="0" err="1"/>
              <a:t>Detecting</a:t>
            </a:r>
            <a:r>
              <a:rPr lang="sv-SE" dirty="0"/>
              <a:t> </a:t>
            </a:r>
            <a:r>
              <a:rPr lang="sv-SE" dirty="0" err="1"/>
              <a:t>corners</a:t>
            </a:r>
            <a:r>
              <a:rPr lang="sv-SE" dirty="0"/>
              <a:t> for QR-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rectification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6863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93A0AF0-688D-C2AE-D309-4F6BD3FE6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QR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Anatomy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683087A-680C-F80C-DB08-4DF8AAF5BE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/>
              <a:t>The QR </a:t>
            </a:r>
            <a:r>
              <a:rPr lang="sv-SE" dirty="0" err="1"/>
              <a:t>code</a:t>
            </a:r>
            <a:r>
              <a:rPr lang="sv-SE" dirty="0"/>
              <a:t> is </a:t>
            </a:r>
            <a:r>
              <a:rPr lang="sv-SE" dirty="0" err="1"/>
              <a:t>built</a:t>
            </a:r>
            <a:r>
              <a:rPr lang="sv-SE" dirty="0"/>
              <a:t> </a:t>
            </a:r>
            <a:r>
              <a:rPr lang="sv-SE" dirty="0" err="1"/>
              <a:t>up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data and metadata.</a:t>
            </a:r>
          </a:p>
          <a:p>
            <a:r>
              <a:rPr lang="sv-SE" dirty="0"/>
              <a:t>Three </a:t>
            </a:r>
            <a:r>
              <a:rPr lang="sv-SE" dirty="0" err="1"/>
              <a:t>finder</a:t>
            </a:r>
            <a:r>
              <a:rPr lang="sv-SE" dirty="0"/>
              <a:t> </a:t>
            </a:r>
            <a:r>
              <a:rPr lang="sv-SE" dirty="0" err="1"/>
              <a:t>patterns</a:t>
            </a:r>
            <a:r>
              <a:rPr lang="sv-SE" dirty="0"/>
              <a:t>, plus </a:t>
            </a:r>
            <a:r>
              <a:rPr lang="sv-SE" dirty="0" err="1"/>
              <a:t>zero</a:t>
            </a:r>
            <a:r>
              <a:rPr lang="sv-SE" dirty="0"/>
              <a:t> or </a:t>
            </a:r>
            <a:r>
              <a:rPr lang="sv-SE" dirty="0" err="1"/>
              <a:t>several</a:t>
            </a:r>
            <a:r>
              <a:rPr lang="sv-SE" dirty="0"/>
              <a:t> </a:t>
            </a:r>
            <a:r>
              <a:rPr lang="sv-SE" dirty="0" err="1"/>
              <a:t>alignment</a:t>
            </a:r>
            <a:r>
              <a:rPr lang="sv-SE" dirty="0"/>
              <a:t> </a:t>
            </a:r>
            <a:r>
              <a:rPr lang="sv-SE" dirty="0" err="1"/>
              <a:t>patterns</a:t>
            </a:r>
            <a:r>
              <a:rPr lang="sv-SE" dirty="0"/>
              <a:t>.</a:t>
            </a:r>
          </a:p>
          <a:p>
            <a:r>
              <a:rPr lang="sv-SE" dirty="0" err="1"/>
              <a:t>Divided</a:t>
            </a:r>
            <a:r>
              <a:rPr lang="sv-SE" dirty="0"/>
              <a:t> </a:t>
            </a:r>
            <a:r>
              <a:rPr lang="sv-SE" dirty="0" err="1"/>
              <a:t>into</a:t>
            </a:r>
            <a:r>
              <a:rPr lang="sv-SE" dirty="0"/>
              <a:t> </a:t>
            </a:r>
            <a:r>
              <a:rPr lang="sv-SE" dirty="0" err="1"/>
              <a:t>modules</a:t>
            </a:r>
            <a:r>
              <a:rPr lang="sv-SE" dirty="0"/>
              <a:t>, </a:t>
            </a:r>
            <a:r>
              <a:rPr lang="sv-SE" dirty="0" err="1"/>
              <a:t>where</a:t>
            </a:r>
            <a:r>
              <a:rPr lang="sv-SE" dirty="0"/>
              <a:t> the </a:t>
            </a:r>
            <a:r>
              <a:rPr lang="sv-SE" dirty="0" err="1"/>
              <a:t>number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modules</a:t>
            </a:r>
            <a:r>
              <a:rPr lang="sv-SE" dirty="0"/>
              <a:t> </a:t>
            </a:r>
            <a:r>
              <a:rPr lang="sv-SE" dirty="0" err="1"/>
              <a:t>depends</a:t>
            </a:r>
            <a:r>
              <a:rPr lang="sv-SE" dirty="0"/>
              <a:t> on the </a:t>
            </a:r>
            <a:r>
              <a:rPr lang="sv-SE" dirty="0" err="1"/>
              <a:t>code</a:t>
            </a:r>
            <a:r>
              <a:rPr lang="sv-SE" dirty="0"/>
              <a:t> version 1 – 40.</a:t>
            </a:r>
          </a:p>
          <a:p>
            <a:r>
              <a:rPr lang="sv-SE" dirty="0" err="1"/>
              <a:t>Num</a:t>
            </a:r>
            <a:r>
              <a:rPr lang="sv-SE" dirty="0"/>
              <a:t> </a:t>
            </a:r>
            <a:r>
              <a:rPr lang="sv-SE" dirty="0" err="1"/>
              <a:t>modules</a:t>
            </a:r>
            <a:r>
              <a:rPr lang="sv-SE" dirty="0"/>
              <a:t> = 4 * version + 17</a:t>
            </a:r>
          </a:p>
          <a:p>
            <a:pPr lvl="1"/>
            <a:r>
              <a:rPr lang="sv-SE" dirty="0"/>
              <a:t>Version 1: 21x21</a:t>
            </a:r>
          </a:p>
          <a:p>
            <a:pPr lvl="1"/>
            <a:r>
              <a:rPr lang="sv-SE" dirty="0"/>
              <a:t>Version 40: 177x177</a:t>
            </a:r>
          </a:p>
          <a:p>
            <a:r>
              <a:rPr lang="sv-SE" dirty="0"/>
              <a:t>Data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coded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redundancy</a:t>
            </a:r>
            <a:r>
              <a:rPr lang="sv-SE" dirty="0"/>
              <a:t> for </a:t>
            </a:r>
            <a:r>
              <a:rPr lang="sv-SE" dirty="0" err="1"/>
              <a:t>robustness</a:t>
            </a:r>
            <a:r>
              <a:rPr lang="sv-SE" dirty="0"/>
              <a:t>.</a:t>
            </a:r>
          </a:p>
        </p:txBody>
      </p:sp>
      <p:pic>
        <p:nvPicPr>
          <p:cNvPr id="6" name="Platshållare för innehåll 5" descr="En bild som visar skärmbild, diagram, text&#10;&#10;AI-genererat innehåll kan vara felaktigt.">
            <a:extLst>
              <a:ext uri="{FF2B5EF4-FFF2-40B4-BE49-F238E27FC236}">
                <a16:creationId xmlns:a16="http://schemas.microsoft.com/office/drawing/2014/main" id="{F3F994A2-5092-BEB9-F0C6-07FF8B1FCC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4625" y="2493150"/>
            <a:ext cx="4448175" cy="3176130"/>
          </a:xfrm>
        </p:spPr>
      </p:pic>
    </p:spTree>
    <p:extLst>
      <p:ext uri="{BB962C8B-B14F-4D97-AF65-F5344CB8AC3E}">
        <p14:creationId xmlns:p14="http://schemas.microsoft.com/office/powerpoint/2010/main" val="21672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6BC5777-324A-69CE-8E18-2C4C2D57E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Catching</a:t>
            </a:r>
            <a:r>
              <a:rPr lang="sv-SE" dirty="0"/>
              <a:t> </a:t>
            </a:r>
            <a:r>
              <a:rPr lang="sv-SE" dirty="0" err="1"/>
              <a:t>Codes</a:t>
            </a:r>
            <a:r>
              <a:rPr lang="sv-SE" dirty="0"/>
              <a:t> in the </a:t>
            </a:r>
            <a:r>
              <a:rPr lang="sv-SE" dirty="0" err="1"/>
              <a:t>Wild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4C21E9D-6BF4-2D59-8920-1209B4456A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v-SE" dirty="0" err="1"/>
              <a:t>Often</a:t>
            </a:r>
            <a:r>
              <a:rPr lang="sv-SE" dirty="0"/>
              <a:t> </a:t>
            </a:r>
            <a:r>
              <a:rPr lang="sv-SE" dirty="0" err="1"/>
              <a:t>codes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transformed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attempting</a:t>
            </a:r>
            <a:r>
              <a:rPr lang="sv-SE" dirty="0"/>
              <a:t> to read </a:t>
            </a:r>
            <a:r>
              <a:rPr lang="sv-SE" dirty="0" err="1"/>
              <a:t>them</a:t>
            </a:r>
            <a:r>
              <a:rPr lang="sv-SE" dirty="0"/>
              <a:t>:</a:t>
            </a:r>
          </a:p>
          <a:p>
            <a:pPr lvl="1"/>
            <a:r>
              <a:rPr lang="sv-SE" dirty="0"/>
              <a:t>From rotations to </a:t>
            </a:r>
            <a:r>
              <a:rPr lang="sv-SE" dirty="0" err="1"/>
              <a:t>projective</a:t>
            </a:r>
            <a:r>
              <a:rPr lang="sv-SE" dirty="0"/>
              <a:t> transforms.</a:t>
            </a:r>
          </a:p>
          <a:p>
            <a:r>
              <a:rPr lang="sv-SE" dirty="0"/>
              <a:t>Reading </a:t>
            </a:r>
            <a:r>
              <a:rPr lang="sv-SE" dirty="0" err="1"/>
              <a:t>codes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divided</a:t>
            </a:r>
            <a:r>
              <a:rPr lang="sv-SE" dirty="0"/>
              <a:t> in </a:t>
            </a:r>
            <a:r>
              <a:rPr lang="sv-SE" dirty="0" err="1"/>
              <a:t>three</a:t>
            </a:r>
            <a:r>
              <a:rPr lang="sv-SE" dirty="0"/>
              <a:t> </a:t>
            </a:r>
            <a:r>
              <a:rPr lang="sv-SE" dirty="0" err="1"/>
              <a:t>main</a:t>
            </a:r>
            <a:r>
              <a:rPr lang="sv-SE" dirty="0"/>
              <a:t> steps: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 err="1"/>
              <a:t>Identify</a:t>
            </a:r>
            <a:r>
              <a:rPr lang="sv-SE" dirty="0"/>
              <a:t> the </a:t>
            </a:r>
            <a:r>
              <a:rPr lang="sv-SE" dirty="0" err="1"/>
              <a:t>corners</a:t>
            </a:r>
            <a:r>
              <a:rPr lang="sv-SE" dirty="0"/>
              <a:t> in </a:t>
            </a:r>
            <a:r>
              <a:rPr lang="sv-SE" dirty="0" err="1"/>
              <a:t>correct</a:t>
            </a:r>
            <a:r>
              <a:rPr lang="sv-SE" dirty="0"/>
              <a:t> order (”red”, ”green”, ”</a:t>
            </a:r>
            <a:r>
              <a:rPr lang="sv-SE" dirty="0" err="1"/>
              <a:t>blue</a:t>
            </a:r>
            <a:r>
              <a:rPr lang="sv-SE" dirty="0"/>
              <a:t>”, ”</a:t>
            </a:r>
            <a:r>
              <a:rPr lang="sv-SE" dirty="0" err="1"/>
              <a:t>white</a:t>
            </a:r>
            <a:r>
              <a:rPr lang="sv-SE" dirty="0"/>
              <a:t>”).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 err="1"/>
              <a:t>Rectify</a:t>
            </a:r>
            <a:r>
              <a:rPr lang="sv-SE" dirty="0"/>
              <a:t> the </a:t>
            </a:r>
            <a:r>
              <a:rPr lang="sv-SE" dirty="0" err="1"/>
              <a:t>code</a:t>
            </a:r>
            <a:r>
              <a:rPr lang="sv-SE" dirty="0"/>
              <a:t> (plus </a:t>
            </a:r>
            <a:r>
              <a:rPr lang="sv-SE" dirty="0" err="1"/>
              <a:t>filtering</a:t>
            </a:r>
            <a:r>
              <a:rPr lang="sv-SE" dirty="0"/>
              <a:t>).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/>
              <a:t>Read and </a:t>
            </a:r>
            <a:r>
              <a:rPr lang="sv-SE" dirty="0" err="1"/>
              <a:t>decode</a:t>
            </a:r>
            <a:r>
              <a:rPr lang="sv-SE" dirty="0"/>
              <a:t> the </a:t>
            </a:r>
            <a:r>
              <a:rPr lang="sv-SE" dirty="0" err="1"/>
              <a:t>bitmap</a:t>
            </a:r>
            <a:r>
              <a:rPr lang="sv-SE" dirty="0"/>
              <a:t>.</a:t>
            </a:r>
          </a:p>
          <a:p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playground</a:t>
            </a:r>
            <a:r>
              <a:rPr lang="sv-SE" dirty="0"/>
              <a:t> focus </a:t>
            </a:r>
            <a:r>
              <a:rPr lang="sv-SE" dirty="0" err="1"/>
              <a:t>only</a:t>
            </a:r>
            <a:r>
              <a:rPr lang="sv-SE" dirty="0"/>
              <a:t> on the </a:t>
            </a:r>
            <a:r>
              <a:rPr lang="sv-SE" dirty="0" err="1"/>
              <a:t>first</a:t>
            </a:r>
            <a:r>
              <a:rPr lang="sv-SE" dirty="0"/>
              <a:t> step.</a:t>
            </a:r>
          </a:p>
        </p:txBody>
      </p:sp>
      <p:pic>
        <p:nvPicPr>
          <p:cNvPr id="6" name="Platshållare för innehåll 5" descr="En bild som visar skärmbild, grafisk design, Grafik, svart&#10;&#10;AI-genererat innehåll kan vara felaktigt.">
            <a:extLst>
              <a:ext uri="{FF2B5EF4-FFF2-40B4-BE49-F238E27FC236}">
                <a16:creationId xmlns:a16="http://schemas.microsoft.com/office/drawing/2014/main" id="{E32A6A32-260B-D428-2913-2F9BC26B99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62647" y="2999579"/>
            <a:ext cx="5960277" cy="1986759"/>
          </a:xfrm>
        </p:spPr>
      </p:pic>
    </p:spTree>
    <p:extLst>
      <p:ext uri="{BB962C8B-B14F-4D97-AF65-F5344CB8AC3E}">
        <p14:creationId xmlns:p14="http://schemas.microsoft.com/office/powerpoint/2010/main" val="246660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F937F98-5515-E4E3-374C-4775E624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Learning </a:t>
            </a:r>
            <a:r>
              <a:rPr lang="sv-SE" dirty="0" err="1"/>
              <a:t>Based</a:t>
            </a:r>
            <a:r>
              <a:rPr lang="sv-SE" dirty="0"/>
              <a:t> Approach for Corner </a:t>
            </a:r>
            <a:r>
              <a:rPr lang="sv-SE" dirty="0" err="1"/>
              <a:t>Detection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A89B203-33C7-549E-59BC-3C73BA0DA0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v-SE" dirty="0" err="1"/>
              <a:t>Generate</a:t>
            </a:r>
            <a:r>
              <a:rPr lang="sv-SE" dirty="0"/>
              <a:t> </a:t>
            </a:r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training</a:t>
            </a:r>
            <a:r>
              <a:rPr lang="sv-SE" dirty="0"/>
              <a:t> and </a:t>
            </a:r>
            <a:r>
              <a:rPr lang="sv-SE" dirty="0" err="1"/>
              <a:t>validation</a:t>
            </a:r>
            <a:r>
              <a:rPr lang="sv-SE" dirty="0"/>
              <a:t> </a:t>
            </a:r>
            <a:r>
              <a:rPr lang="sv-SE" dirty="0" err="1"/>
              <a:t>datasets</a:t>
            </a:r>
            <a:r>
              <a:rPr lang="sv-SE" dirty="0"/>
              <a:t>.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sample</a:t>
            </a:r>
            <a:r>
              <a:rPr lang="sv-SE" dirty="0"/>
              <a:t>: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 err="1"/>
              <a:t>Random</a:t>
            </a:r>
            <a:r>
              <a:rPr lang="sv-SE" dirty="0"/>
              <a:t> version 2 QR </a:t>
            </a:r>
            <a:r>
              <a:rPr lang="sv-SE" dirty="0" err="1"/>
              <a:t>code</a:t>
            </a:r>
            <a:r>
              <a:rPr lang="sv-SE" dirty="0"/>
              <a:t>.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noise</a:t>
            </a:r>
            <a:r>
              <a:rPr lang="sv-SE" dirty="0"/>
              <a:t> </a:t>
            </a:r>
            <a:r>
              <a:rPr lang="sv-SE" dirty="0" err="1"/>
              <a:t>background</a:t>
            </a:r>
            <a:r>
              <a:rPr lang="sv-SE" dirty="0"/>
              <a:t>.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 err="1"/>
              <a:t>Random</a:t>
            </a:r>
            <a:r>
              <a:rPr lang="sv-SE" dirty="0"/>
              <a:t> </a:t>
            </a:r>
            <a:r>
              <a:rPr lang="sv-SE" dirty="0" err="1"/>
              <a:t>homography</a:t>
            </a:r>
            <a:r>
              <a:rPr lang="sv-SE" dirty="0"/>
              <a:t> for </a:t>
            </a:r>
            <a:r>
              <a:rPr lang="sv-SE" dirty="0" err="1"/>
              <a:t>warping</a:t>
            </a:r>
            <a:r>
              <a:rPr lang="sv-SE" dirty="0"/>
              <a:t> the QR </a:t>
            </a:r>
            <a:r>
              <a:rPr lang="sv-SE" dirty="0" err="1"/>
              <a:t>code</a:t>
            </a:r>
            <a:r>
              <a:rPr lang="sv-SE" dirty="0"/>
              <a:t> </a:t>
            </a:r>
            <a:r>
              <a:rPr lang="sv-SE" dirty="0" err="1"/>
              <a:t>onto</a:t>
            </a:r>
            <a:r>
              <a:rPr lang="sv-SE" dirty="0"/>
              <a:t> the </a:t>
            </a:r>
            <a:r>
              <a:rPr lang="sv-SE" dirty="0" err="1"/>
              <a:t>background</a:t>
            </a:r>
            <a:r>
              <a:rPr lang="sv-SE" dirty="0"/>
              <a:t>.</a:t>
            </a:r>
          </a:p>
          <a:p>
            <a:pPr marL="987552" lvl="1" indent="-457200">
              <a:buFont typeface="+mj-lt"/>
              <a:buAutoNum type="arabicPeriod"/>
            </a:pPr>
            <a:r>
              <a:rPr lang="sv-SE" dirty="0"/>
              <a:t>Save the RGB image, </a:t>
            </a:r>
            <a:r>
              <a:rPr lang="sv-SE" dirty="0" err="1"/>
              <a:t>one</a:t>
            </a:r>
            <a:r>
              <a:rPr lang="sv-SE" dirty="0"/>
              <a:t> </a:t>
            </a:r>
            <a:r>
              <a:rPr lang="sv-SE" dirty="0" err="1"/>
              <a:t>ground</a:t>
            </a:r>
            <a:r>
              <a:rPr lang="sv-SE" dirty="0"/>
              <a:t> </a:t>
            </a:r>
            <a:r>
              <a:rPr lang="sv-SE" dirty="0" err="1"/>
              <a:t>truth</a:t>
            </a:r>
            <a:r>
              <a:rPr lang="sv-SE" dirty="0"/>
              <a:t> </a:t>
            </a:r>
            <a:r>
              <a:rPr lang="sv-SE" dirty="0" err="1"/>
              <a:t>heatmap</a:t>
            </a:r>
            <a:r>
              <a:rPr lang="sv-SE" dirty="0"/>
              <a:t> per corner, and the </a:t>
            </a:r>
            <a:r>
              <a:rPr lang="sv-SE" dirty="0" err="1"/>
              <a:t>numeric</a:t>
            </a:r>
            <a:r>
              <a:rPr lang="sv-SE" dirty="0"/>
              <a:t> </a:t>
            </a:r>
            <a:r>
              <a:rPr lang="sv-SE" dirty="0" err="1"/>
              <a:t>points</a:t>
            </a:r>
            <a:r>
              <a:rPr lang="sv-SE" dirty="0"/>
              <a:t>.</a:t>
            </a:r>
          </a:p>
          <a:p>
            <a:r>
              <a:rPr lang="sv-SE" dirty="0"/>
              <a:t>The task is to </a:t>
            </a:r>
            <a:r>
              <a:rPr lang="sv-SE" dirty="0" err="1"/>
              <a:t>learn</a:t>
            </a:r>
            <a:r>
              <a:rPr lang="sv-SE" dirty="0"/>
              <a:t> to </a:t>
            </a:r>
            <a:r>
              <a:rPr lang="sv-SE" dirty="0" err="1"/>
              <a:t>predict</a:t>
            </a:r>
            <a:r>
              <a:rPr lang="sv-SE" dirty="0"/>
              <a:t> the corner </a:t>
            </a:r>
            <a:r>
              <a:rPr lang="sv-SE" dirty="0" err="1"/>
              <a:t>heatmaps</a:t>
            </a:r>
            <a:r>
              <a:rPr lang="sv-SE" dirty="0"/>
              <a:t>.</a:t>
            </a:r>
          </a:p>
        </p:txBody>
      </p:sp>
      <p:pic>
        <p:nvPicPr>
          <p:cNvPr id="6" name="Platshållare för innehåll 5">
            <a:extLst>
              <a:ext uri="{FF2B5EF4-FFF2-40B4-BE49-F238E27FC236}">
                <a16:creationId xmlns:a16="http://schemas.microsoft.com/office/drawing/2014/main" id="{7368E959-7F26-A039-DA7D-96542895C6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008916" y="2285999"/>
            <a:ext cx="3004458" cy="1072224"/>
          </a:xfrm>
        </p:spPr>
      </p:pic>
      <p:pic>
        <p:nvPicPr>
          <p:cNvPr id="7" name="Platshållare för innehåll 5">
            <a:extLst>
              <a:ext uri="{FF2B5EF4-FFF2-40B4-BE49-F238E27FC236}">
                <a16:creationId xmlns:a16="http://schemas.microsoft.com/office/drawing/2014/main" id="{B7694896-5D9F-11ED-B8B5-CF2A83576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00458" y="2321368"/>
            <a:ext cx="3004458" cy="1001486"/>
          </a:xfrm>
          <a:prstGeom prst="rect">
            <a:avLst/>
          </a:prstGeom>
        </p:spPr>
      </p:pic>
      <p:pic>
        <p:nvPicPr>
          <p:cNvPr id="8" name="Platshållare för innehåll 5">
            <a:extLst>
              <a:ext uri="{FF2B5EF4-FFF2-40B4-BE49-F238E27FC236}">
                <a16:creationId xmlns:a16="http://schemas.microsoft.com/office/drawing/2014/main" id="{4E80DA03-DBA2-4F36-BF90-644C2371DF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08916" y="3499778"/>
            <a:ext cx="3004458" cy="1001486"/>
          </a:xfrm>
          <a:prstGeom prst="rect">
            <a:avLst/>
          </a:prstGeom>
        </p:spPr>
      </p:pic>
      <p:pic>
        <p:nvPicPr>
          <p:cNvPr id="9" name="Platshållare för innehåll 5">
            <a:extLst>
              <a:ext uri="{FF2B5EF4-FFF2-40B4-BE49-F238E27FC236}">
                <a16:creationId xmlns:a16="http://schemas.microsoft.com/office/drawing/2014/main" id="{B9F91CF5-9C0E-DE42-4FEA-28EF01FA57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00458" y="3499778"/>
            <a:ext cx="3004458" cy="1001486"/>
          </a:xfrm>
          <a:prstGeom prst="rect">
            <a:avLst/>
          </a:prstGeom>
        </p:spPr>
      </p:pic>
      <p:pic>
        <p:nvPicPr>
          <p:cNvPr id="10" name="Platshållare för innehåll 5">
            <a:extLst>
              <a:ext uri="{FF2B5EF4-FFF2-40B4-BE49-F238E27FC236}">
                <a16:creationId xmlns:a16="http://schemas.microsoft.com/office/drawing/2014/main" id="{027A4175-C467-FC58-4745-3F0DCAA017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08916" y="4654438"/>
            <a:ext cx="3004458" cy="1001486"/>
          </a:xfrm>
          <a:prstGeom prst="rect">
            <a:avLst/>
          </a:prstGeom>
        </p:spPr>
      </p:pic>
      <p:pic>
        <p:nvPicPr>
          <p:cNvPr id="11" name="Platshållare för innehåll 5">
            <a:extLst>
              <a:ext uri="{FF2B5EF4-FFF2-40B4-BE49-F238E27FC236}">
                <a16:creationId xmlns:a16="http://schemas.microsoft.com/office/drawing/2014/main" id="{FE3F4438-7ED1-28F7-725A-0D488A5590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100458" y="4654438"/>
            <a:ext cx="3004458" cy="10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7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3F71FC2-CC1A-6238-13E4-7F3ED56D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Network</a:t>
            </a:r>
            <a:r>
              <a:rPr lang="sv-SE" dirty="0"/>
              <a:t> </a:t>
            </a:r>
            <a:r>
              <a:rPr lang="sv-SE" dirty="0" err="1"/>
              <a:t>Architecture</a:t>
            </a:r>
            <a:r>
              <a:rPr lang="sv-SE" dirty="0"/>
              <a:t> – </a:t>
            </a:r>
            <a:r>
              <a:rPr lang="sv-SE" dirty="0" err="1"/>
              <a:t>Tiny</a:t>
            </a:r>
            <a:r>
              <a:rPr lang="sv-SE" dirty="0"/>
              <a:t> U-Net</a:t>
            </a:r>
            <a:br>
              <a:rPr lang="sv-SE" dirty="0"/>
            </a:br>
            <a:r>
              <a:rPr lang="sv-SE" dirty="0"/>
              <a:t>(1.1 </a:t>
            </a:r>
            <a:r>
              <a:rPr lang="sv-SE" dirty="0" err="1"/>
              <a:t>Mparams</a:t>
            </a:r>
            <a:r>
              <a:rPr lang="sv-SE"/>
              <a:t>)</a:t>
            </a:r>
            <a:endParaRPr lang="sv-SE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780104B5-3F04-5C9D-9A1B-F486C1BB7695}"/>
              </a:ext>
            </a:extLst>
          </p:cNvPr>
          <p:cNvSpPr/>
          <p:nvPr/>
        </p:nvSpPr>
        <p:spPr>
          <a:xfrm>
            <a:off x="1867256" y="2281727"/>
            <a:ext cx="538385" cy="3247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Höger 4">
            <a:extLst>
              <a:ext uri="{FF2B5EF4-FFF2-40B4-BE49-F238E27FC236}">
                <a16:creationId xmlns:a16="http://schemas.microsoft.com/office/drawing/2014/main" id="{781FFFD8-2D8E-747B-5477-B03112B45DAD}"/>
              </a:ext>
            </a:extLst>
          </p:cNvPr>
          <p:cNvSpPr/>
          <p:nvPr/>
        </p:nvSpPr>
        <p:spPr>
          <a:xfrm>
            <a:off x="1576699" y="2314842"/>
            <a:ext cx="290557" cy="258510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0BCCA099-FD50-A9BF-4413-DD1CB2A8D2B5}"/>
              </a:ext>
            </a:extLst>
          </p:cNvPr>
          <p:cNvSpPr txBox="1"/>
          <p:nvPr/>
        </p:nvSpPr>
        <p:spPr>
          <a:xfrm>
            <a:off x="786215" y="2314842"/>
            <a:ext cx="8503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3x256x256</a:t>
            </a:r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B55C572F-A7CC-8210-D0CC-83B512C9202B}"/>
              </a:ext>
            </a:extLst>
          </p:cNvPr>
          <p:cNvSpPr txBox="1"/>
          <p:nvPr/>
        </p:nvSpPr>
        <p:spPr>
          <a:xfrm>
            <a:off x="2405640" y="2314842"/>
            <a:ext cx="10041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16x256x256</a:t>
            </a:r>
          </a:p>
        </p:txBody>
      </p:sp>
      <p:sp>
        <p:nvSpPr>
          <p:cNvPr id="8" name="Ned 7">
            <a:extLst>
              <a:ext uri="{FF2B5EF4-FFF2-40B4-BE49-F238E27FC236}">
                <a16:creationId xmlns:a16="http://schemas.microsoft.com/office/drawing/2014/main" id="{D24F82C3-F4FE-DA38-1520-977255B0D461}"/>
              </a:ext>
            </a:extLst>
          </p:cNvPr>
          <p:cNvSpPr/>
          <p:nvPr/>
        </p:nvSpPr>
        <p:spPr>
          <a:xfrm>
            <a:off x="2132175" y="2700471"/>
            <a:ext cx="273465" cy="32474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5B8EC9C-CA9B-EDA6-1670-5FF522C54B1C}"/>
              </a:ext>
            </a:extLst>
          </p:cNvPr>
          <p:cNvSpPr/>
          <p:nvPr/>
        </p:nvSpPr>
        <p:spPr>
          <a:xfrm>
            <a:off x="2132175" y="3119215"/>
            <a:ext cx="538385" cy="3247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A7369E87-DD52-8118-DCDE-CDD6CB7F9CD3}"/>
              </a:ext>
            </a:extLst>
          </p:cNvPr>
          <p:cNvSpPr txBox="1"/>
          <p:nvPr/>
        </p:nvSpPr>
        <p:spPr>
          <a:xfrm>
            <a:off x="1145136" y="3152330"/>
            <a:ext cx="9357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16x128x128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7FC0353D-CA6E-CFBB-41EE-F309063D9A25}"/>
              </a:ext>
            </a:extLst>
          </p:cNvPr>
          <p:cNvSpPr txBox="1"/>
          <p:nvPr/>
        </p:nvSpPr>
        <p:spPr>
          <a:xfrm>
            <a:off x="2670560" y="3152330"/>
            <a:ext cx="9357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32x128x128</a:t>
            </a:r>
          </a:p>
        </p:txBody>
      </p:sp>
      <p:sp>
        <p:nvSpPr>
          <p:cNvPr id="13" name="Ned 12">
            <a:extLst>
              <a:ext uri="{FF2B5EF4-FFF2-40B4-BE49-F238E27FC236}">
                <a16:creationId xmlns:a16="http://schemas.microsoft.com/office/drawing/2014/main" id="{0679AF50-0E4A-4016-AFBF-4BBC30B0FA80}"/>
              </a:ext>
            </a:extLst>
          </p:cNvPr>
          <p:cNvSpPr/>
          <p:nvPr/>
        </p:nvSpPr>
        <p:spPr>
          <a:xfrm>
            <a:off x="2401367" y="3528345"/>
            <a:ext cx="273465" cy="32474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8618EFF4-F376-78D8-D9C9-E4C3F7FFC3B4}"/>
              </a:ext>
            </a:extLst>
          </p:cNvPr>
          <p:cNvSpPr/>
          <p:nvPr/>
        </p:nvSpPr>
        <p:spPr>
          <a:xfrm>
            <a:off x="2401367" y="3947089"/>
            <a:ext cx="538385" cy="3247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3B0D0AB2-B3E3-6375-EE80-8F048D2CE7E8}"/>
              </a:ext>
            </a:extLst>
          </p:cNvPr>
          <p:cNvSpPr txBox="1"/>
          <p:nvPr/>
        </p:nvSpPr>
        <p:spPr>
          <a:xfrm>
            <a:off x="1576699" y="3989818"/>
            <a:ext cx="7904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32x64x64</a:t>
            </a: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42AB0FDF-2126-F4FD-F041-79B5366D96CE}"/>
              </a:ext>
            </a:extLst>
          </p:cNvPr>
          <p:cNvSpPr txBox="1"/>
          <p:nvPr/>
        </p:nvSpPr>
        <p:spPr>
          <a:xfrm>
            <a:off x="2939752" y="3980204"/>
            <a:ext cx="9357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64x64x64</a:t>
            </a:r>
          </a:p>
        </p:txBody>
      </p:sp>
      <p:sp>
        <p:nvSpPr>
          <p:cNvPr id="17" name="Ned 16">
            <a:extLst>
              <a:ext uri="{FF2B5EF4-FFF2-40B4-BE49-F238E27FC236}">
                <a16:creationId xmlns:a16="http://schemas.microsoft.com/office/drawing/2014/main" id="{BEDF4E91-E7E7-E8C9-F337-C77DEAB711C0}"/>
              </a:ext>
            </a:extLst>
          </p:cNvPr>
          <p:cNvSpPr/>
          <p:nvPr/>
        </p:nvSpPr>
        <p:spPr>
          <a:xfrm>
            <a:off x="2670559" y="4373311"/>
            <a:ext cx="273465" cy="32474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90570BAC-C113-9956-C8DB-CF92ACEAE94C}"/>
              </a:ext>
            </a:extLst>
          </p:cNvPr>
          <p:cNvSpPr/>
          <p:nvPr/>
        </p:nvSpPr>
        <p:spPr>
          <a:xfrm>
            <a:off x="2670559" y="4792055"/>
            <a:ext cx="538385" cy="3247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textruta 18">
            <a:extLst>
              <a:ext uri="{FF2B5EF4-FFF2-40B4-BE49-F238E27FC236}">
                <a16:creationId xmlns:a16="http://schemas.microsoft.com/office/drawing/2014/main" id="{C9F6210C-946E-8683-08E2-3F2AAD485EB0}"/>
              </a:ext>
            </a:extLst>
          </p:cNvPr>
          <p:cNvSpPr txBox="1"/>
          <p:nvPr/>
        </p:nvSpPr>
        <p:spPr>
          <a:xfrm>
            <a:off x="1845891" y="4834784"/>
            <a:ext cx="7904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64x32x32</a:t>
            </a:r>
          </a:p>
        </p:txBody>
      </p:sp>
      <p:sp>
        <p:nvSpPr>
          <p:cNvPr id="20" name="textruta 19">
            <a:extLst>
              <a:ext uri="{FF2B5EF4-FFF2-40B4-BE49-F238E27FC236}">
                <a16:creationId xmlns:a16="http://schemas.microsoft.com/office/drawing/2014/main" id="{DA6E5413-4E84-A910-3A4F-0CE7AF43ACB4}"/>
              </a:ext>
            </a:extLst>
          </p:cNvPr>
          <p:cNvSpPr txBox="1"/>
          <p:nvPr/>
        </p:nvSpPr>
        <p:spPr>
          <a:xfrm>
            <a:off x="3208944" y="4825170"/>
            <a:ext cx="9357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128x32x32</a:t>
            </a:r>
          </a:p>
        </p:txBody>
      </p:sp>
      <p:sp>
        <p:nvSpPr>
          <p:cNvPr id="22" name="Ned 21">
            <a:extLst>
              <a:ext uri="{FF2B5EF4-FFF2-40B4-BE49-F238E27FC236}">
                <a16:creationId xmlns:a16="http://schemas.microsoft.com/office/drawing/2014/main" id="{A45FBA6D-503B-6096-A38C-88D96FE683DD}"/>
              </a:ext>
            </a:extLst>
          </p:cNvPr>
          <p:cNvSpPr/>
          <p:nvPr/>
        </p:nvSpPr>
        <p:spPr>
          <a:xfrm>
            <a:off x="6685658" y="4371015"/>
            <a:ext cx="273465" cy="324740"/>
          </a:xfrm>
          <a:prstGeom prst="downArrow">
            <a:avLst/>
          </a:prstGeom>
          <a:solidFill>
            <a:srgbClr val="FF0000"/>
          </a:solidFill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A74AF5FA-F356-5AED-BAE4-49231A825ADF}"/>
              </a:ext>
            </a:extLst>
          </p:cNvPr>
          <p:cNvSpPr/>
          <p:nvPr/>
        </p:nvSpPr>
        <p:spPr>
          <a:xfrm>
            <a:off x="6685658" y="3944792"/>
            <a:ext cx="538385" cy="3247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" name="Ned 23">
            <a:extLst>
              <a:ext uri="{FF2B5EF4-FFF2-40B4-BE49-F238E27FC236}">
                <a16:creationId xmlns:a16="http://schemas.microsoft.com/office/drawing/2014/main" id="{7C0155CC-A8C5-D841-0A0E-B9243D266B7C}"/>
              </a:ext>
            </a:extLst>
          </p:cNvPr>
          <p:cNvSpPr/>
          <p:nvPr/>
        </p:nvSpPr>
        <p:spPr>
          <a:xfrm>
            <a:off x="6954850" y="3535798"/>
            <a:ext cx="273465" cy="324740"/>
          </a:xfrm>
          <a:prstGeom prst="downArrow">
            <a:avLst/>
          </a:prstGeom>
          <a:solidFill>
            <a:srgbClr val="FF0000"/>
          </a:solidFill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" name="Rektangel 24">
            <a:extLst>
              <a:ext uri="{FF2B5EF4-FFF2-40B4-BE49-F238E27FC236}">
                <a16:creationId xmlns:a16="http://schemas.microsoft.com/office/drawing/2014/main" id="{948159A7-7CB3-6E36-CD9E-FE681067D32F}"/>
              </a:ext>
            </a:extLst>
          </p:cNvPr>
          <p:cNvSpPr/>
          <p:nvPr/>
        </p:nvSpPr>
        <p:spPr>
          <a:xfrm>
            <a:off x="6959123" y="3104260"/>
            <a:ext cx="538385" cy="3247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Ned 25">
            <a:extLst>
              <a:ext uri="{FF2B5EF4-FFF2-40B4-BE49-F238E27FC236}">
                <a16:creationId xmlns:a16="http://schemas.microsoft.com/office/drawing/2014/main" id="{565391CA-B8F3-392F-FE7E-8B161CB46A14}"/>
              </a:ext>
            </a:extLst>
          </p:cNvPr>
          <p:cNvSpPr/>
          <p:nvPr/>
        </p:nvSpPr>
        <p:spPr>
          <a:xfrm>
            <a:off x="7228315" y="2695266"/>
            <a:ext cx="273465" cy="324740"/>
          </a:xfrm>
          <a:prstGeom prst="downArrow">
            <a:avLst/>
          </a:prstGeom>
          <a:solidFill>
            <a:srgbClr val="FF0000"/>
          </a:solidFill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2CB121A2-AAF0-A3B3-A291-89A71E12F958}"/>
              </a:ext>
            </a:extLst>
          </p:cNvPr>
          <p:cNvSpPr/>
          <p:nvPr/>
        </p:nvSpPr>
        <p:spPr>
          <a:xfrm>
            <a:off x="7228315" y="2255953"/>
            <a:ext cx="538385" cy="3247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8" name="Höger 27">
            <a:extLst>
              <a:ext uri="{FF2B5EF4-FFF2-40B4-BE49-F238E27FC236}">
                <a16:creationId xmlns:a16="http://schemas.microsoft.com/office/drawing/2014/main" id="{98C76D79-39B4-7E10-2025-E5C44C66ECE6}"/>
              </a:ext>
            </a:extLst>
          </p:cNvPr>
          <p:cNvSpPr/>
          <p:nvPr/>
        </p:nvSpPr>
        <p:spPr>
          <a:xfrm>
            <a:off x="7787720" y="2310149"/>
            <a:ext cx="290557" cy="25851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9" name="Höger 28">
            <a:extLst>
              <a:ext uri="{FF2B5EF4-FFF2-40B4-BE49-F238E27FC236}">
                <a16:creationId xmlns:a16="http://schemas.microsoft.com/office/drawing/2014/main" id="{FDACC25C-2F48-3B84-DEB8-74875C9284AF}"/>
              </a:ext>
            </a:extLst>
          </p:cNvPr>
          <p:cNvSpPr/>
          <p:nvPr/>
        </p:nvSpPr>
        <p:spPr>
          <a:xfrm>
            <a:off x="4144714" y="4820576"/>
            <a:ext cx="2676500" cy="258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Höger 29">
            <a:extLst>
              <a:ext uri="{FF2B5EF4-FFF2-40B4-BE49-F238E27FC236}">
                <a16:creationId xmlns:a16="http://schemas.microsoft.com/office/drawing/2014/main" id="{659F1E64-750E-5420-5FCF-CFD79D45FDFD}"/>
              </a:ext>
            </a:extLst>
          </p:cNvPr>
          <p:cNvSpPr/>
          <p:nvPr/>
        </p:nvSpPr>
        <p:spPr>
          <a:xfrm>
            <a:off x="3839072" y="3962460"/>
            <a:ext cx="2676500" cy="258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1" name="Höger 30">
            <a:extLst>
              <a:ext uri="{FF2B5EF4-FFF2-40B4-BE49-F238E27FC236}">
                <a16:creationId xmlns:a16="http://schemas.microsoft.com/office/drawing/2014/main" id="{39B3B42C-D79E-A670-AC2B-9F70AB57B29C}"/>
              </a:ext>
            </a:extLst>
          </p:cNvPr>
          <p:cNvSpPr/>
          <p:nvPr/>
        </p:nvSpPr>
        <p:spPr>
          <a:xfrm>
            <a:off x="3699641" y="3137375"/>
            <a:ext cx="3121573" cy="258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2" name="Höger 31">
            <a:extLst>
              <a:ext uri="{FF2B5EF4-FFF2-40B4-BE49-F238E27FC236}">
                <a16:creationId xmlns:a16="http://schemas.microsoft.com/office/drawing/2014/main" id="{98D66535-0CBB-88AE-A65C-111FB9E73352}"/>
              </a:ext>
            </a:extLst>
          </p:cNvPr>
          <p:cNvSpPr/>
          <p:nvPr/>
        </p:nvSpPr>
        <p:spPr>
          <a:xfrm>
            <a:off x="3409772" y="2312777"/>
            <a:ext cx="3674200" cy="258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3" name="textruta 32">
            <a:extLst>
              <a:ext uri="{FF2B5EF4-FFF2-40B4-BE49-F238E27FC236}">
                <a16:creationId xmlns:a16="http://schemas.microsoft.com/office/drawing/2014/main" id="{50891ED2-2285-CFEE-934C-F0F989D51512}"/>
              </a:ext>
            </a:extLst>
          </p:cNvPr>
          <p:cNvSpPr txBox="1"/>
          <p:nvPr/>
        </p:nvSpPr>
        <p:spPr>
          <a:xfrm>
            <a:off x="8078277" y="2326777"/>
            <a:ext cx="8503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050" dirty="0"/>
              <a:t>4x256x256</a:t>
            </a: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8A58379D-73EC-A727-AD0B-B1A9BDE56332}"/>
              </a:ext>
            </a:extLst>
          </p:cNvPr>
          <p:cNvSpPr/>
          <p:nvPr/>
        </p:nvSpPr>
        <p:spPr>
          <a:xfrm>
            <a:off x="9056515" y="3944792"/>
            <a:ext cx="538385" cy="3247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5" name="textruta 34">
            <a:extLst>
              <a:ext uri="{FF2B5EF4-FFF2-40B4-BE49-F238E27FC236}">
                <a16:creationId xmlns:a16="http://schemas.microsoft.com/office/drawing/2014/main" id="{CAAA7DD8-C68F-7A12-301E-CD3F87EA2529}"/>
              </a:ext>
            </a:extLst>
          </p:cNvPr>
          <p:cNvSpPr txBox="1"/>
          <p:nvPr/>
        </p:nvSpPr>
        <p:spPr>
          <a:xfrm>
            <a:off x="9594900" y="3937826"/>
            <a:ext cx="1072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2 * CBR</a:t>
            </a:r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55903F40-9488-BB4D-AAA6-7D79882102E2}"/>
              </a:ext>
            </a:extLst>
          </p:cNvPr>
          <p:cNvSpPr/>
          <p:nvPr/>
        </p:nvSpPr>
        <p:spPr>
          <a:xfrm>
            <a:off x="9056515" y="4438116"/>
            <a:ext cx="538385" cy="3247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F9024406-4B02-CBE4-3672-C378F2FD20F7}"/>
              </a:ext>
            </a:extLst>
          </p:cNvPr>
          <p:cNvSpPr txBox="1"/>
          <p:nvPr/>
        </p:nvSpPr>
        <p:spPr>
          <a:xfrm>
            <a:off x="9628702" y="4438116"/>
            <a:ext cx="1512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2 * CBR + </a:t>
            </a:r>
            <a:r>
              <a:rPr lang="sv-SE" sz="1400" dirty="0" err="1"/>
              <a:t>concat</a:t>
            </a:r>
            <a:endParaRPr lang="sv-SE" sz="1400" dirty="0"/>
          </a:p>
        </p:txBody>
      </p:sp>
      <p:sp>
        <p:nvSpPr>
          <p:cNvPr id="38" name="Ned 37">
            <a:extLst>
              <a:ext uri="{FF2B5EF4-FFF2-40B4-BE49-F238E27FC236}">
                <a16:creationId xmlns:a16="http://schemas.microsoft.com/office/drawing/2014/main" id="{13E35B0E-7ADC-FD63-6A1D-E547E341C26F}"/>
              </a:ext>
            </a:extLst>
          </p:cNvPr>
          <p:cNvSpPr/>
          <p:nvPr/>
        </p:nvSpPr>
        <p:spPr>
          <a:xfrm>
            <a:off x="9208965" y="4916716"/>
            <a:ext cx="273465" cy="324740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9" name="textruta 38">
            <a:extLst>
              <a:ext uri="{FF2B5EF4-FFF2-40B4-BE49-F238E27FC236}">
                <a16:creationId xmlns:a16="http://schemas.microsoft.com/office/drawing/2014/main" id="{5AA8D7B4-1877-B652-9D2C-8AFF6C4813F0}"/>
              </a:ext>
            </a:extLst>
          </p:cNvPr>
          <p:cNvSpPr txBox="1"/>
          <p:nvPr/>
        </p:nvSpPr>
        <p:spPr>
          <a:xfrm>
            <a:off x="9628702" y="4917576"/>
            <a:ext cx="11969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Max Pool 2x2</a:t>
            </a:r>
          </a:p>
        </p:txBody>
      </p:sp>
      <p:sp>
        <p:nvSpPr>
          <p:cNvPr id="40" name="Ned 39">
            <a:extLst>
              <a:ext uri="{FF2B5EF4-FFF2-40B4-BE49-F238E27FC236}">
                <a16:creationId xmlns:a16="http://schemas.microsoft.com/office/drawing/2014/main" id="{06BDCA9E-FB09-FB56-BF25-EA0BB8F221A9}"/>
              </a:ext>
            </a:extLst>
          </p:cNvPr>
          <p:cNvSpPr/>
          <p:nvPr/>
        </p:nvSpPr>
        <p:spPr>
          <a:xfrm>
            <a:off x="9208965" y="5395316"/>
            <a:ext cx="273465" cy="324740"/>
          </a:xfrm>
          <a:prstGeom prst="downArrow">
            <a:avLst/>
          </a:prstGeom>
          <a:solidFill>
            <a:srgbClr val="FF0000"/>
          </a:solidFill>
          <a:scene3d>
            <a:camera prst="orthographicFront">
              <a:rot lat="0" lon="0" rev="1080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1" name="textruta 40">
            <a:extLst>
              <a:ext uri="{FF2B5EF4-FFF2-40B4-BE49-F238E27FC236}">
                <a16:creationId xmlns:a16="http://schemas.microsoft.com/office/drawing/2014/main" id="{7383F6CC-7FAC-455D-CDBD-B07988DBBD04}"/>
              </a:ext>
            </a:extLst>
          </p:cNvPr>
          <p:cNvSpPr txBox="1"/>
          <p:nvPr/>
        </p:nvSpPr>
        <p:spPr>
          <a:xfrm>
            <a:off x="9593855" y="5388315"/>
            <a:ext cx="1378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/>
              <a:t>Transpose </a:t>
            </a:r>
            <a:r>
              <a:rPr lang="sv-SE" sz="1400" dirty="0" err="1"/>
              <a:t>conv</a:t>
            </a:r>
            <a:endParaRPr lang="sv-SE" sz="1400" dirty="0"/>
          </a:p>
        </p:txBody>
      </p:sp>
      <p:sp>
        <p:nvSpPr>
          <p:cNvPr id="42" name="Höger 41">
            <a:extLst>
              <a:ext uri="{FF2B5EF4-FFF2-40B4-BE49-F238E27FC236}">
                <a16:creationId xmlns:a16="http://schemas.microsoft.com/office/drawing/2014/main" id="{DDC7109D-0337-D00D-265C-86352044BDC4}"/>
              </a:ext>
            </a:extLst>
          </p:cNvPr>
          <p:cNvSpPr/>
          <p:nvPr/>
        </p:nvSpPr>
        <p:spPr>
          <a:xfrm>
            <a:off x="9108405" y="5913690"/>
            <a:ext cx="474583" cy="2585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43" name="textruta 42">
            <a:extLst>
              <a:ext uri="{FF2B5EF4-FFF2-40B4-BE49-F238E27FC236}">
                <a16:creationId xmlns:a16="http://schemas.microsoft.com/office/drawing/2014/main" id="{FE4CD512-D533-B778-0953-1294BC192EC4}"/>
              </a:ext>
            </a:extLst>
          </p:cNvPr>
          <p:cNvSpPr txBox="1"/>
          <p:nvPr/>
        </p:nvSpPr>
        <p:spPr>
          <a:xfrm>
            <a:off x="9593854" y="5850812"/>
            <a:ext cx="1512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400" dirty="0" err="1"/>
              <a:t>Skip</a:t>
            </a:r>
            <a:r>
              <a:rPr lang="sv-SE" sz="1400" dirty="0"/>
              <a:t> </a:t>
            </a:r>
            <a:r>
              <a:rPr lang="sv-SE" sz="1400" dirty="0" err="1"/>
              <a:t>connection</a:t>
            </a:r>
            <a:endParaRPr lang="sv-SE" sz="1400" dirty="0"/>
          </a:p>
        </p:txBody>
      </p:sp>
    </p:spTree>
    <p:extLst>
      <p:ext uri="{BB962C8B-B14F-4D97-AF65-F5344CB8AC3E}">
        <p14:creationId xmlns:p14="http://schemas.microsoft.com/office/powerpoint/2010/main" val="2330727817"/>
      </p:ext>
    </p:extLst>
  </p:cSld>
  <p:clrMapOvr>
    <a:masterClrMapping/>
  </p:clrMapOvr>
</p:sld>
</file>

<file path=ppt/theme/theme1.xml><?xml version="1.0" encoding="utf-8"?>
<a:theme xmlns:a="http://schemas.openxmlformats.org/drawingml/2006/main" name="Beskuren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Beskuren</Template>
  <TotalTime>158</TotalTime>
  <Words>247</Words>
  <Application>Microsoft Macintosh PowerPoint</Application>
  <PresentationFormat>Bredbild</PresentationFormat>
  <Paragraphs>42</Paragraphs>
  <Slides>5</Slides>
  <Notes>2</Notes>
  <HiddenSlides>0</HiddenSlides>
  <MMClips>0</MMClips>
  <ScaleCrop>false</ScaleCrop>
  <HeadingPairs>
    <vt:vector size="6" baseType="variant">
      <vt:variant>
        <vt:lpstr>Använt teckensnitt</vt:lpstr>
      </vt:variant>
      <vt:variant>
        <vt:i4>2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8" baseType="lpstr">
      <vt:lpstr>Aptos</vt:lpstr>
      <vt:lpstr>Franklin Gothic Book</vt:lpstr>
      <vt:lpstr>Beskuren</vt:lpstr>
      <vt:lpstr>Playing with Corners</vt:lpstr>
      <vt:lpstr>QR Code Anatomy</vt:lpstr>
      <vt:lpstr>Catching Codes in the Wild</vt:lpstr>
      <vt:lpstr>Learning Based Approach for Corner Detection</vt:lpstr>
      <vt:lpstr>Network Architecture – Tiny U-Net (1.1 Mparams)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Sandahl</dc:creator>
  <cp:lastModifiedBy>Patrik Sandahl</cp:lastModifiedBy>
  <cp:revision>14</cp:revision>
  <dcterms:created xsi:type="dcterms:W3CDTF">2025-11-04T19:08:02Z</dcterms:created>
  <dcterms:modified xsi:type="dcterms:W3CDTF">2025-11-04T21:46:39Z</dcterms:modified>
</cp:coreProperties>
</file>