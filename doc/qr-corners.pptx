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19"/>
    <p:restoredTop sz="94758"/>
  </p:normalViewPr>
  <p:slideViewPr>
    <p:cSldViewPr snapToGrid="0">
      <p:cViewPr varScale="1">
        <p:scale>
          <a:sx n="149" d="100"/>
          <a:sy n="149" d="100"/>
        </p:scale>
        <p:origin x="448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Platshållare fö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3DDDBF-D2F2-A34E-9372-E8CEDEF5FBAC}" type="datetimeFigureOut">
              <a:rPr lang="sv-SE" smtClean="0"/>
              <a:t>2025-11-05</a:t>
            </a:fld>
            <a:endParaRPr lang="sv-SE"/>
          </a:p>
        </p:txBody>
      </p:sp>
      <p:sp>
        <p:nvSpPr>
          <p:cNvPr id="4" name="Platshållare för bildobjekt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Platshållare för anteckninga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6" name="Platshållare för sidfo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Platshållare för bild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B1F5B3-9B52-7948-A2A5-1C0B44A303D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9761745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Platshållare för bild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B1F5B3-9B52-7948-A2A5-1C0B44A303DB}" type="slidenum">
              <a:rPr lang="sv-SE" smtClean="0"/>
              <a:t>2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8129155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Platshållare för bild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B1F5B3-9B52-7948-A2A5-1C0B44A303DB}" type="slidenum">
              <a:rPr lang="sv-SE" smtClean="0"/>
              <a:t>4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0410115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Platshållare för bild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B1F5B3-9B52-7948-A2A5-1C0B44A303DB}" type="slidenum">
              <a:rPr lang="sv-SE" smtClean="0"/>
              <a:t>5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8809090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Platshållare för bild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B1F5B3-9B52-7948-A2A5-1C0B44A303DB}" type="slidenum">
              <a:rPr lang="sv-SE" smtClean="0"/>
              <a:t>6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2306703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  <a:p>
            <a:endParaRPr lang="sv-SE" dirty="0"/>
          </a:p>
          <a:p>
            <a:endParaRPr lang="sv-SE" dirty="0"/>
          </a:p>
          <a:p>
            <a:endParaRPr lang="sv-SE" dirty="0"/>
          </a:p>
          <a:p>
            <a:endParaRPr lang="sv-SE" dirty="0"/>
          </a:p>
          <a:p>
            <a:endParaRPr lang="sv-SE" dirty="0"/>
          </a:p>
          <a:p>
            <a:endParaRPr lang="sv-SE" dirty="0"/>
          </a:p>
          <a:p>
            <a:endParaRPr lang="sv-SE" dirty="0"/>
          </a:p>
        </p:txBody>
      </p:sp>
      <p:sp>
        <p:nvSpPr>
          <p:cNvPr id="4" name="Platshållare för bild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B1F5B3-9B52-7948-A2A5-1C0B44A303DB}" type="slidenum">
              <a:rPr lang="sv-SE" smtClean="0"/>
              <a:t>9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8996342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Rubrikbild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v-SE"/>
              <a:t>Klicka här för att ändra mall för underrubrikformat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11/5/25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sv-SE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sv-SE"/>
            </a:p>
          </p:txBody>
        </p: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11/5/25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vsnittsrubri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11/5/25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11/5/25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11/5/25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11/5/25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11/5/25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Text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11/5/25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sv-SE"/>
              <a:t>Klicka på ikonen för att lägga till en bild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11/5/25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11/5/25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11/5/25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11/5/25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v-S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g"/><Relationship Id="rId3" Type="http://schemas.openxmlformats.org/officeDocument/2006/relationships/image" Target="../media/image3.jpg"/><Relationship Id="rId7" Type="http://schemas.openxmlformats.org/officeDocument/2006/relationships/image" Target="../media/image7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jpg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17604088-60E0-CC0D-1364-254517F0BA7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v-SE" dirty="0" err="1"/>
              <a:t>Playing</a:t>
            </a:r>
            <a:r>
              <a:rPr lang="sv-SE" dirty="0"/>
              <a:t> </a:t>
            </a:r>
            <a:r>
              <a:rPr lang="sv-SE" dirty="0" err="1"/>
              <a:t>with</a:t>
            </a:r>
            <a:r>
              <a:rPr lang="sv-SE" dirty="0"/>
              <a:t> </a:t>
            </a:r>
            <a:r>
              <a:rPr lang="sv-SE" dirty="0" err="1"/>
              <a:t>Corners</a:t>
            </a:r>
            <a:endParaRPr lang="sv-SE" dirty="0"/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E84666B4-0A0C-7EB7-15A1-D3DD5B68FFF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sv-SE" dirty="0" err="1"/>
              <a:t>Detecting</a:t>
            </a:r>
            <a:r>
              <a:rPr lang="sv-SE" dirty="0"/>
              <a:t> </a:t>
            </a:r>
            <a:r>
              <a:rPr lang="sv-SE" dirty="0" err="1"/>
              <a:t>corners</a:t>
            </a:r>
            <a:r>
              <a:rPr lang="sv-SE" dirty="0"/>
              <a:t> for QR-</a:t>
            </a:r>
            <a:r>
              <a:rPr lang="sv-SE" dirty="0" err="1"/>
              <a:t>code</a:t>
            </a:r>
            <a:r>
              <a:rPr lang="sv-SE" dirty="0"/>
              <a:t> </a:t>
            </a:r>
            <a:r>
              <a:rPr lang="sv-SE" dirty="0" err="1"/>
              <a:t>rectification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6686388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93A0AF0-688D-C2AE-D309-4F6BD3FE6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sv-SE" dirty="0"/>
              <a:t>QR </a:t>
            </a:r>
            <a:r>
              <a:rPr lang="sv-SE" dirty="0" err="1"/>
              <a:t>Code</a:t>
            </a:r>
            <a:r>
              <a:rPr lang="sv-SE" dirty="0"/>
              <a:t> </a:t>
            </a:r>
            <a:r>
              <a:rPr lang="sv-SE" dirty="0" err="1"/>
              <a:t>Anatomy</a:t>
            </a:r>
            <a:endParaRPr lang="sv-SE" dirty="0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D683087A-680C-F80C-DB08-4DF8AAF5BEE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sv-SE" dirty="0"/>
              <a:t>The QR </a:t>
            </a:r>
            <a:r>
              <a:rPr lang="sv-SE" dirty="0" err="1"/>
              <a:t>code</a:t>
            </a:r>
            <a:r>
              <a:rPr lang="sv-SE" dirty="0"/>
              <a:t> is </a:t>
            </a:r>
            <a:r>
              <a:rPr lang="sv-SE" dirty="0" err="1"/>
              <a:t>built</a:t>
            </a:r>
            <a:r>
              <a:rPr lang="sv-SE" dirty="0"/>
              <a:t> </a:t>
            </a:r>
            <a:r>
              <a:rPr lang="sv-SE" dirty="0" err="1"/>
              <a:t>up</a:t>
            </a:r>
            <a:r>
              <a:rPr lang="sv-SE" dirty="0"/>
              <a:t> </a:t>
            </a:r>
            <a:r>
              <a:rPr lang="sv-SE" dirty="0" err="1"/>
              <a:t>of</a:t>
            </a:r>
            <a:r>
              <a:rPr lang="sv-SE" dirty="0"/>
              <a:t> data and metadata.</a:t>
            </a:r>
          </a:p>
          <a:p>
            <a:r>
              <a:rPr lang="sv-SE" dirty="0"/>
              <a:t>Three </a:t>
            </a:r>
            <a:r>
              <a:rPr lang="sv-SE" dirty="0" err="1"/>
              <a:t>finder</a:t>
            </a:r>
            <a:r>
              <a:rPr lang="sv-SE" dirty="0"/>
              <a:t> </a:t>
            </a:r>
            <a:r>
              <a:rPr lang="sv-SE" dirty="0" err="1"/>
              <a:t>patterns</a:t>
            </a:r>
            <a:r>
              <a:rPr lang="sv-SE" dirty="0"/>
              <a:t>, plus </a:t>
            </a:r>
            <a:r>
              <a:rPr lang="sv-SE" dirty="0" err="1"/>
              <a:t>zero</a:t>
            </a:r>
            <a:r>
              <a:rPr lang="sv-SE" dirty="0"/>
              <a:t> or </a:t>
            </a:r>
            <a:r>
              <a:rPr lang="sv-SE" dirty="0" err="1"/>
              <a:t>several</a:t>
            </a:r>
            <a:r>
              <a:rPr lang="sv-SE" dirty="0"/>
              <a:t> </a:t>
            </a:r>
            <a:r>
              <a:rPr lang="sv-SE" dirty="0" err="1"/>
              <a:t>alignment</a:t>
            </a:r>
            <a:r>
              <a:rPr lang="sv-SE" dirty="0"/>
              <a:t> </a:t>
            </a:r>
            <a:r>
              <a:rPr lang="sv-SE" dirty="0" err="1"/>
              <a:t>patterns</a:t>
            </a:r>
            <a:r>
              <a:rPr lang="sv-SE" dirty="0"/>
              <a:t>.</a:t>
            </a:r>
          </a:p>
          <a:p>
            <a:r>
              <a:rPr lang="sv-SE" dirty="0" err="1"/>
              <a:t>Divided</a:t>
            </a:r>
            <a:r>
              <a:rPr lang="sv-SE" dirty="0"/>
              <a:t> </a:t>
            </a:r>
            <a:r>
              <a:rPr lang="sv-SE" dirty="0" err="1"/>
              <a:t>into</a:t>
            </a:r>
            <a:r>
              <a:rPr lang="sv-SE" dirty="0"/>
              <a:t> </a:t>
            </a:r>
            <a:r>
              <a:rPr lang="sv-SE" dirty="0" err="1"/>
              <a:t>modules</a:t>
            </a:r>
            <a:r>
              <a:rPr lang="sv-SE" dirty="0"/>
              <a:t>, </a:t>
            </a:r>
            <a:r>
              <a:rPr lang="sv-SE" dirty="0" err="1"/>
              <a:t>where</a:t>
            </a:r>
            <a:r>
              <a:rPr lang="sv-SE" dirty="0"/>
              <a:t> the </a:t>
            </a:r>
            <a:r>
              <a:rPr lang="sv-SE" dirty="0" err="1"/>
              <a:t>number</a:t>
            </a:r>
            <a:r>
              <a:rPr lang="sv-SE" dirty="0"/>
              <a:t> </a:t>
            </a:r>
            <a:r>
              <a:rPr lang="sv-SE" dirty="0" err="1"/>
              <a:t>of</a:t>
            </a:r>
            <a:r>
              <a:rPr lang="sv-SE" dirty="0"/>
              <a:t> </a:t>
            </a:r>
            <a:r>
              <a:rPr lang="sv-SE" dirty="0" err="1"/>
              <a:t>modules</a:t>
            </a:r>
            <a:r>
              <a:rPr lang="sv-SE" dirty="0"/>
              <a:t> </a:t>
            </a:r>
            <a:r>
              <a:rPr lang="sv-SE" dirty="0" err="1"/>
              <a:t>depends</a:t>
            </a:r>
            <a:r>
              <a:rPr lang="sv-SE" dirty="0"/>
              <a:t> on the </a:t>
            </a:r>
            <a:r>
              <a:rPr lang="sv-SE" dirty="0" err="1"/>
              <a:t>code</a:t>
            </a:r>
            <a:r>
              <a:rPr lang="sv-SE" dirty="0"/>
              <a:t> version 1 – 40.</a:t>
            </a:r>
          </a:p>
          <a:p>
            <a:r>
              <a:rPr lang="sv-SE" dirty="0" err="1"/>
              <a:t>Num</a:t>
            </a:r>
            <a:r>
              <a:rPr lang="sv-SE" dirty="0"/>
              <a:t> </a:t>
            </a:r>
            <a:r>
              <a:rPr lang="sv-SE" dirty="0" err="1"/>
              <a:t>modules</a:t>
            </a:r>
            <a:r>
              <a:rPr lang="sv-SE" dirty="0"/>
              <a:t> = 4 * version + 17</a:t>
            </a:r>
          </a:p>
          <a:p>
            <a:pPr lvl="1"/>
            <a:r>
              <a:rPr lang="sv-SE" dirty="0"/>
              <a:t>Version 1: 21x21</a:t>
            </a:r>
          </a:p>
          <a:p>
            <a:pPr lvl="1"/>
            <a:r>
              <a:rPr lang="sv-SE" dirty="0"/>
              <a:t>Version 40: 177x177</a:t>
            </a:r>
          </a:p>
          <a:p>
            <a:r>
              <a:rPr lang="sv-SE" dirty="0"/>
              <a:t>Data </a:t>
            </a:r>
            <a:r>
              <a:rPr lang="sv-SE" dirty="0" err="1"/>
              <a:t>can</a:t>
            </a:r>
            <a:r>
              <a:rPr lang="sv-SE" dirty="0"/>
              <a:t> be </a:t>
            </a:r>
            <a:r>
              <a:rPr lang="sv-SE" dirty="0" err="1"/>
              <a:t>coded</a:t>
            </a:r>
            <a:r>
              <a:rPr lang="sv-SE" dirty="0"/>
              <a:t> </a:t>
            </a:r>
            <a:r>
              <a:rPr lang="sv-SE" dirty="0" err="1"/>
              <a:t>with</a:t>
            </a:r>
            <a:r>
              <a:rPr lang="sv-SE" dirty="0"/>
              <a:t> </a:t>
            </a:r>
            <a:r>
              <a:rPr lang="sv-SE" dirty="0" err="1"/>
              <a:t>redundancy</a:t>
            </a:r>
            <a:r>
              <a:rPr lang="sv-SE" dirty="0"/>
              <a:t> for </a:t>
            </a:r>
            <a:r>
              <a:rPr lang="sv-SE" dirty="0" err="1"/>
              <a:t>robustness</a:t>
            </a:r>
            <a:r>
              <a:rPr lang="sv-SE" dirty="0"/>
              <a:t>.</a:t>
            </a:r>
          </a:p>
        </p:txBody>
      </p:sp>
      <p:pic>
        <p:nvPicPr>
          <p:cNvPr id="6" name="Platshållare för innehåll 5" descr="En bild som visar skärmbild, diagram, text&#10;&#10;AI-genererat innehåll kan vara felaktigt.">
            <a:extLst>
              <a:ext uri="{FF2B5EF4-FFF2-40B4-BE49-F238E27FC236}">
                <a16:creationId xmlns:a16="http://schemas.microsoft.com/office/drawing/2014/main" id="{F3F994A2-5092-BEB9-F0C6-07FF8B1FCCC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524625" y="2493150"/>
            <a:ext cx="4448175" cy="3176130"/>
          </a:xfrm>
        </p:spPr>
      </p:pic>
    </p:spTree>
    <p:extLst>
      <p:ext uri="{BB962C8B-B14F-4D97-AF65-F5344CB8AC3E}">
        <p14:creationId xmlns:p14="http://schemas.microsoft.com/office/powerpoint/2010/main" val="2167272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A6BC5777-324A-69CE-8E18-2C4C2D57E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sv-SE" dirty="0" err="1"/>
              <a:t>Catching</a:t>
            </a:r>
            <a:r>
              <a:rPr lang="sv-SE" dirty="0"/>
              <a:t> </a:t>
            </a:r>
            <a:r>
              <a:rPr lang="sv-SE" dirty="0" err="1"/>
              <a:t>Codes</a:t>
            </a:r>
            <a:r>
              <a:rPr lang="sv-SE" dirty="0"/>
              <a:t> in the </a:t>
            </a:r>
            <a:r>
              <a:rPr lang="sv-SE" dirty="0" err="1"/>
              <a:t>Wild</a:t>
            </a:r>
            <a:endParaRPr lang="sv-SE" dirty="0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04C21E9D-6BF4-2D59-8920-1209B4456AE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sv-SE" dirty="0" err="1"/>
              <a:t>Often</a:t>
            </a:r>
            <a:r>
              <a:rPr lang="sv-SE" dirty="0"/>
              <a:t> </a:t>
            </a:r>
            <a:r>
              <a:rPr lang="sv-SE" dirty="0" err="1"/>
              <a:t>codes</a:t>
            </a:r>
            <a:r>
              <a:rPr lang="sv-SE" dirty="0"/>
              <a:t> </a:t>
            </a:r>
            <a:r>
              <a:rPr lang="sv-SE" dirty="0" err="1"/>
              <a:t>are</a:t>
            </a:r>
            <a:r>
              <a:rPr lang="sv-SE" dirty="0"/>
              <a:t> </a:t>
            </a:r>
            <a:r>
              <a:rPr lang="sv-SE" dirty="0" err="1"/>
              <a:t>transformed</a:t>
            </a:r>
            <a:r>
              <a:rPr lang="sv-SE" dirty="0"/>
              <a:t> </a:t>
            </a:r>
            <a:r>
              <a:rPr lang="sv-SE" dirty="0" err="1"/>
              <a:t>when</a:t>
            </a:r>
            <a:r>
              <a:rPr lang="sv-SE" dirty="0"/>
              <a:t> </a:t>
            </a:r>
            <a:r>
              <a:rPr lang="sv-SE" dirty="0" err="1"/>
              <a:t>attempting</a:t>
            </a:r>
            <a:r>
              <a:rPr lang="sv-SE" dirty="0"/>
              <a:t> to read </a:t>
            </a:r>
            <a:r>
              <a:rPr lang="sv-SE" dirty="0" err="1"/>
              <a:t>them</a:t>
            </a:r>
            <a:r>
              <a:rPr lang="sv-SE" dirty="0"/>
              <a:t>:</a:t>
            </a:r>
          </a:p>
          <a:p>
            <a:pPr lvl="1"/>
            <a:r>
              <a:rPr lang="sv-SE" dirty="0"/>
              <a:t>From rotations to </a:t>
            </a:r>
            <a:r>
              <a:rPr lang="sv-SE" dirty="0" err="1"/>
              <a:t>projective</a:t>
            </a:r>
            <a:r>
              <a:rPr lang="sv-SE" dirty="0"/>
              <a:t> transforms.</a:t>
            </a:r>
          </a:p>
          <a:p>
            <a:r>
              <a:rPr lang="sv-SE" dirty="0"/>
              <a:t>Reading </a:t>
            </a:r>
            <a:r>
              <a:rPr lang="sv-SE" dirty="0" err="1"/>
              <a:t>codes</a:t>
            </a:r>
            <a:r>
              <a:rPr lang="sv-SE" dirty="0"/>
              <a:t> </a:t>
            </a:r>
            <a:r>
              <a:rPr lang="sv-SE" dirty="0" err="1"/>
              <a:t>are</a:t>
            </a:r>
            <a:r>
              <a:rPr lang="sv-SE" dirty="0"/>
              <a:t> </a:t>
            </a:r>
            <a:r>
              <a:rPr lang="sv-SE" dirty="0" err="1"/>
              <a:t>divided</a:t>
            </a:r>
            <a:r>
              <a:rPr lang="sv-SE" dirty="0"/>
              <a:t> in </a:t>
            </a:r>
            <a:r>
              <a:rPr lang="sv-SE" dirty="0" err="1"/>
              <a:t>three</a:t>
            </a:r>
            <a:r>
              <a:rPr lang="sv-SE" dirty="0"/>
              <a:t> </a:t>
            </a:r>
            <a:r>
              <a:rPr lang="sv-SE" dirty="0" err="1"/>
              <a:t>main</a:t>
            </a:r>
            <a:r>
              <a:rPr lang="sv-SE" dirty="0"/>
              <a:t> steps:</a:t>
            </a:r>
          </a:p>
          <a:p>
            <a:pPr marL="987552" lvl="1" indent="-457200">
              <a:buFont typeface="+mj-lt"/>
              <a:buAutoNum type="arabicPeriod"/>
            </a:pPr>
            <a:r>
              <a:rPr lang="sv-SE" dirty="0" err="1"/>
              <a:t>Identify</a:t>
            </a:r>
            <a:r>
              <a:rPr lang="sv-SE" dirty="0"/>
              <a:t> the </a:t>
            </a:r>
            <a:r>
              <a:rPr lang="sv-SE" dirty="0" err="1"/>
              <a:t>corners</a:t>
            </a:r>
            <a:r>
              <a:rPr lang="sv-SE" dirty="0"/>
              <a:t> in </a:t>
            </a:r>
            <a:r>
              <a:rPr lang="sv-SE" dirty="0" err="1"/>
              <a:t>correct</a:t>
            </a:r>
            <a:r>
              <a:rPr lang="sv-SE" dirty="0"/>
              <a:t> order (”red”, ”green”, ”</a:t>
            </a:r>
            <a:r>
              <a:rPr lang="sv-SE" dirty="0" err="1"/>
              <a:t>blue</a:t>
            </a:r>
            <a:r>
              <a:rPr lang="sv-SE" dirty="0"/>
              <a:t>”, ”</a:t>
            </a:r>
            <a:r>
              <a:rPr lang="sv-SE" dirty="0" err="1"/>
              <a:t>white</a:t>
            </a:r>
            <a:r>
              <a:rPr lang="sv-SE" dirty="0"/>
              <a:t>”).</a:t>
            </a:r>
          </a:p>
          <a:p>
            <a:pPr marL="987552" lvl="1" indent="-457200">
              <a:buFont typeface="+mj-lt"/>
              <a:buAutoNum type="arabicPeriod"/>
            </a:pPr>
            <a:r>
              <a:rPr lang="sv-SE" dirty="0" err="1"/>
              <a:t>Rectify</a:t>
            </a:r>
            <a:r>
              <a:rPr lang="sv-SE" dirty="0"/>
              <a:t> the </a:t>
            </a:r>
            <a:r>
              <a:rPr lang="sv-SE" dirty="0" err="1"/>
              <a:t>code</a:t>
            </a:r>
            <a:r>
              <a:rPr lang="sv-SE" dirty="0"/>
              <a:t> (plus </a:t>
            </a:r>
            <a:r>
              <a:rPr lang="sv-SE" dirty="0" err="1"/>
              <a:t>filtering</a:t>
            </a:r>
            <a:r>
              <a:rPr lang="sv-SE" dirty="0"/>
              <a:t>).</a:t>
            </a:r>
          </a:p>
          <a:p>
            <a:pPr marL="987552" lvl="1" indent="-457200">
              <a:buFont typeface="+mj-lt"/>
              <a:buAutoNum type="arabicPeriod"/>
            </a:pPr>
            <a:r>
              <a:rPr lang="sv-SE" dirty="0"/>
              <a:t>Read and </a:t>
            </a:r>
            <a:r>
              <a:rPr lang="sv-SE" dirty="0" err="1"/>
              <a:t>decode</a:t>
            </a:r>
            <a:r>
              <a:rPr lang="sv-SE" dirty="0"/>
              <a:t> the </a:t>
            </a:r>
            <a:r>
              <a:rPr lang="sv-SE" dirty="0" err="1"/>
              <a:t>bitmap</a:t>
            </a:r>
            <a:r>
              <a:rPr lang="sv-SE" dirty="0"/>
              <a:t>.</a:t>
            </a:r>
          </a:p>
          <a:p>
            <a:r>
              <a:rPr lang="sv-SE" dirty="0" err="1"/>
              <a:t>This</a:t>
            </a:r>
            <a:r>
              <a:rPr lang="sv-SE" dirty="0"/>
              <a:t> </a:t>
            </a:r>
            <a:r>
              <a:rPr lang="sv-SE" dirty="0" err="1"/>
              <a:t>playground</a:t>
            </a:r>
            <a:r>
              <a:rPr lang="sv-SE" dirty="0"/>
              <a:t> focus </a:t>
            </a:r>
            <a:r>
              <a:rPr lang="sv-SE" dirty="0" err="1"/>
              <a:t>only</a:t>
            </a:r>
            <a:r>
              <a:rPr lang="sv-SE" dirty="0"/>
              <a:t> on the </a:t>
            </a:r>
            <a:r>
              <a:rPr lang="sv-SE" dirty="0" err="1"/>
              <a:t>first</a:t>
            </a:r>
            <a:r>
              <a:rPr lang="sv-SE" dirty="0"/>
              <a:t> step.</a:t>
            </a:r>
          </a:p>
        </p:txBody>
      </p:sp>
      <p:pic>
        <p:nvPicPr>
          <p:cNvPr id="6" name="Platshållare för innehåll 5" descr="En bild som visar skärmbild, grafisk design, Grafik, svart&#10;&#10;AI-genererat innehåll kan vara felaktigt.">
            <a:extLst>
              <a:ext uri="{FF2B5EF4-FFF2-40B4-BE49-F238E27FC236}">
                <a16:creationId xmlns:a16="http://schemas.microsoft.com/office/drawing/2014/main" id="{E32A6A32-260B-D428-2913-2F9BC26B991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962647" y="2999579"/>
            <a:ext cx="5960277" cy="1986759"/>
          </a:xfrm>
        </p:spPr>
      </p:pic>
    </p:spTree>
    <p:extLst>
      <p:ext uri="{BB962C8B-B14F-4D97-AF65-F5344CB8AC3E}">
        <p14:creationId xmlns:p14="http://schemas.microsoft.com/office/powerpoint/2010/main" val="24666070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DF937F98-5515-E4E3-374C-4775E624E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Learning </a:t>
            </a:r>
            <a:r>
              <a:rPr lang="sv-SE" dirty="0" err="1"/>
              <a:t>Based</a:t>
            </a:r>
            <a:r>
              <a:rPr lang="sv-SE" dirty="0"/>
              <a:t> Approach for Corner </a:t>
            </a:r>
            <a:r>
              <a:rPr lang="sv-SE" dirty="0" err="1"/>
              <a:t>Detection</a:t>
            </a:r>
            <a:endParaRPr lang="sv-SE" dirty="0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5A89B203-33C7-549E-59BC-3C73BA0DA00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sv-SE" dirty="0" err="1"/>
              <a:t>Generate</a:t>
            </a:r>
            <a:r>
              <a:rPr lang="sv-SE" dirty="0"/>
              <a:t> </a:t>
            </a:r>
            <a:r>
              <a:rPr lang="sv-SE" dirty="0" err="1"/>
              <a:t>random</a:t>
            </a:r>
            <a:r>
              <a:rPr lang="sv-SE" dirty="0"/>
              <a:t> </a:t>
            </a:r>
            <a:r>
              <a:rPr lang="sv-SE" dirty="0" err="1"/>
              <a:t>training</a:t>
            </a:r>
            <a:r>
              <a:rPr lang="sv-SE" dirty="0"/>
              <a:t> and </a:t>
            </a:r>
            <a:r>
              <a:rPr lang="sv-SE" dirty="0" err="1"/>
              <a:t>validation</a:t>
            </a:r>
            <a:r>
              <a:rPr lang="sv-SE" dirty="0"/>
              <a:t> </a:t>
            </a:r>
            <a:r>
              <a:rPr lang="sv-SE" dirty="0" err="1"/>
              <a:t>datasets</a:t>
            </a:r>
            <a:r>
              <a:rPr lang="sv-SE" dirty="0"/>
              <a:t>. </a:t>
            </a:r>
            <a:r>
              <a:rPr lang="sv-SE" dirty="0" err="1"/>
              <a:t>Each</a:t>
            </a:r>
            <a:r>
              <a:rPr lang="sv-SE" dirty="0"/>
              <a:t> </a:t>
            </a:r>
            <a:r>
              <a:rPr lang="sv-SE" dirty="0" err="1"/>
              <a:t>sample</a:t>
            </a:r>
            <a:r>
              <a:rPr lang="sv-SE" dirty="0"/>
              <a:t>:</a:t>
            </a:r>
          </a:p>
          <a:p>
            <a:pPr marL="987552" lvl="1" indent="-457200">
              <a:buFont typeface="+mj-lt"/>
              <a:buAutoNum type="arabicPeriod"/>
            </a:pPr>
            <a:r>
              <a:rPr lang="sv-SE" dirty="0" err="1"/>
              <a:t>Random</a:t>
            </a:r>
            <a:r>
              <a:rPr lang="sv-SE" dirty="0"/>
              <a:t> version 2 QR </a:t>
            </a:r>
            <a:r>
              <a:rPr lang="sv-SE" dirty="0" err="1"/>
              <a:t>code</a:t>
            </a:r>
            <a:r>
              <a:rPr lang="sv-SE" dirty="0"/>
              <a:t>.</a:t>
            </a:r>
          </a:p>
          <a:p>
            <a:pPr marL="987552" lvl="1" indent="-457200">
              <a:buFont typeface="+mj-lt"/>
              <a:buAutoNum type="arabicPeriod"/>
            </a:pPr>
            <a:r>
              <a:rPr lang="sv-SE" dirty="0" err="1"/>
              <a:t>Random</a:t>
            </a:r>
            <a:r>
              <a:rPr lang="sv-SE" dirty="0"/>
              <a:t> </a:t>
            </a:r>
            <a:r>
              <a:rPr lang="sv-SE" dirty="0" err="1"/>
              <a:t>noise</a:t>
            </a:r>
            <a:r>
              <a:rPr lang="sv-SE" dirty="0"/>
              <a:t> </a:t>
            </a:r>
            <a:r>
              <a:rPr lang="sv-SE" dirty="0" err="1"/>
              <a:t>background</a:t>
            </a:r>
            <a:r>
              <a:rPr lang="sv-SE" dirty="0"/>
              <a:t>.</a:t>
            </a:r>
          </a:p>
          <a:p>
            <a:pPr marL="987552" lvl="1" indent="-457200">
              <a:buFont typeface="+mj-lt"/>
              <a:buAutoNum type="arabicPeriod"/>
            </a:pPr>
            <a:r>
              <a:rPr lang="sv-SE" dirty="0" err="1"/>
              <a:t>Random</a:t>
            </a:r>
            <a:r>
              <a:rPr lang="sv-SE" dirty="0"/>
              <a:t> </a:t>
            </a:r>
            <a:r>
              <a:rPr lang="sv-SE" dirty="0" err="1"/>
              <a:t>homography</a:t>
            </a:r>
            <a:r>
              <a:rPr lang="sv-SE" dirty="0"/>
              <a:t> for </a:t>
            </a:r>
            <a:r>
              <a:rPr lang="sv-SE" dirty="0" err="1"/>
              <a:t>warping</a:t>
            </a:r>
            <a:r>
              <a:rPr lang="sv-SE" dirty="0"/>
              <a:t> the QR </a:t>
            </a:r>
            <a:r>
              <a:rPr lang="sv-SE" dirty="0" err="1"/>
              <a:t>code</a:t>
            </a:r>
            <a:r>
              <a:rPr lang="sv-SE" dirty="0"/>
              <a:t> </a:t>
            </a:r>
            <a:r>
              <a:rPr lang="sv-SE" dirty="0" err="1"/>
              <a:t>onto</a:t>
            </a:r>
            <a:r>
              <a:rPr lang="sv-SE" dirty="0"/>
              <a:t> the </a:t>
            </a:r>
            <a:r>
              <a:rPr lang="sv-SE" dirty="0" err="1"/>
              <a:t>background</a:t>
            </a:r>
            <a:r>
              <a:rPr lang="sv-SE" dirty="0"/>
              <a:t>.</a:t>
            </a:r>
          </a:p>
          <a:p>
            <a:pPr marL="987552" lvl="1" indent="-457200">
              <a:buFont typeface="+mj-lt"/>
              <a:buAutoNum type="arabicPeriod"/>
            </a:pPr>
            <a:r>
              <a:rPr lang="sv-SE" dirty="0"/>
              <a:t>Save the RGB image, </a:t>
            </a:r>
            <a:r>
              <a:rPr lang="sv-SE" dirty="0" err="1"/>
              <a:t>one</a:t>
            </a:r>
            <a:r>
              <a:rPr lang="sv-SE" dirty="0"/>
              <a:t> </a:t>
            </a:r>
            <a:r>
              <a:rPr lang="sv-SE" dirty="0" err="1"/>
              <a:t>ground</a:t>
            </a:r>
            <a:r>
              <a:rPr lang="sv-SE" dirty="0"/>
              <a:t> </a:t>
            </a:r>
            <a:r>
              <a:rPr lang="sv-SE" dirty="0" err="1"/>
              <a:t>truth</a:t>
            </a:r>
            <a:r>
              <a:rPr lang="sv-SE" dirty="0"/>
              <a:t> </a:t>
            </a:r>
            <a:r>
              <a:rPr lang="sv-SE" dirty="0" err="1"/>
              <a:t>heatmap</a:t>
            </a:r>
            <a:r>
              <a:rPr lang="sv-SE" dirty="0"/>
              <a:t> per corner, and the </a:t>
            </a:r>
            <a:r>
              <a:rPr lang="sv-SE" dirty="0" err="1"/>
              <a:t>numeric</a:t>
            </a:r>
            <a:r>
              <a:rPr lang="sv-SE" dirty="0"/>
              <a:t> </a:t>
            </a:r>
            <a:r>
              <a:rPr lang="sv-SE" dirty="0" err="1"/>
              <a:t>points</a:t>
            </a:r>
            <a:r>
              <a:rPr lang="sv-SE" dirty="0"/>
              <a:t>.</a:t>
            </a:r>
          </a:p>
          <a:p>
            <a:r>
              <a:rPr lang="sv-SE" dirty="0" err="1"/>
              <a:t>Augmentation</a:t>
            </a:r>
            <a:r>
              <a:rPr lang="sv-SE" dirty="0"/>
              <a:t> (color, </a:t>
            </a:r>
            <a:r>
              <a:rPr lang="sv-SE" dirty="0" err="1"/>
              <a:t>blur</a:t>
            </a:r>
            <a:r>
              <a:rPr lang="sv-SE" dirty="0"/>
              <a:t> etc.) is </a:t>
            </a:r>
            <a:r>
              <a:rPr lang="sv-SE" dirty="0" err="1"/>
              <a:t>applied</a:t>
            </a:r>
            <a:r>
              <a:rPr lang="sv-SE" dirty="0"/>
              <a:t> </a:t>
            </a:r>
            <a:r>
              <a:rPr lang="sv-SE" dirty="0" err="1"/>
              <a:t>during</a:t>
            </a:r>
            <a:r>
              <a:rPr lang="sv-SE" dirty="0"/>
              <a:t> </a:t>
            </a:r>
            <a:r>
              <a:rPr lang="sv-SE" dirty="0" err="1"/>
              <a:t>training</a:t>
            </a:r>
            <a:r>
              <a:rPr lang="sv-SE" dirty="0"/>
              <a:t>.</a:t>
            </a:r>
          </a:p>
          <a:p>
            <a:r>
              <a:rPr lang="sv-SE" dirty="0"/>
              <a:t>The task is to </a:t>
            </a:r>
            <a:r>
              <a:rPr lang="sv-SE" dirty="0" err="1"/>
              <a:t>learn</a:t>
            </a:r>
            <a:r>
              <a:rPr lang="sv-SE" dirty="0"/>
              <a:t> to </a:t>
            </a:r>
            <a:r>
              <a:rPr lang="sv-SE" dirty="0" err="1"/>
              <a:t>predict</a:t>
            </a:r>
            <a:r>
              <a:rPr lang="sv-SE" dirty="0"/>
              <a:t> the corner </a:t>
            </a:r>
            <a:r>
              <a:rPr lang="sv-SE" dirty="0" err="1"/>
              <a:t>heatmaps</a:t>
            </a:r>
            <a:r>
              <a:rPr lang="sv-SE" dirty="0"/>
              <a:t>.</a:t>
            </a:r>
          </a:p>
          <a:p>
            <a:endParaRPr lang="sv-SE" dirty="0"/>
          </a:p>
        </p:txBody>
      </p:sp>
      <p:pic>
        <p:nvPicPr>
          <p:cNvPr id="6" name="Platshållare för innehåll 5">
            <a:extLst>
              <a:ext uri="{FF2B5EF4-FFF2-40B4-BE49-F238E27FC236}">
                <a16:creationId xmlns:a16="http://schemas.microsoft.com/office/drawing/2014/main" id="{7368E959-7F26-A039-DA7D-96542895C66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rcRect/>
          <a:stretch/>
        </p:blipFill>
        <p:spPr>
          <a:xfrm>
            <a:off x="6008916" y="2285999"/>
            <a:ext cx="3004458" cy="1072224"/>
          </a:xfrm>
        </p:spPr>
      </p:pic>
      <p:pic>
        <p:nvPicPr>
          <p:cNvPr id="7" name="Platshållare för innehåll 5">
            <a:extLst>
              <a:ext uri="{FF2B5EF4-FFF2-40B4-BE49-F238E27FC236}">
                <a16:creationId xmlns:a16="http://schemas.microsoft.com/office/drawing/2014/main" id="{B7694896-5D9F-11ED-B8B5-CF2A8357683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100458" y="2321368"/>
            <a:ext cx="3004458" cy="1001486"/>
          </a:xfrm>
          <a:prstGeom prst="rect">
            <a:avLst/>
          </a:prstGeom>
        </p:spPr>
      </p:pic>
      <p:pic>
        <p:nvPicPr>
          <p:cNvPr id="8" name="Platshållare för innehåll 5">
            <a:extLst>
              <a:ext uri="{FF2B5EF4-FFF2-40B4-BE49-F238E27FC236}">
                <a16:creationId xmlns:a16="http://schemas.microsoft.com/office/drawing/2014/main" id="{4E80DA03-DBA2-4F36-BF90-644C2371DFA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008916" y="3499778"/>
            <a:ext cx="3004458" cy="1001486"/>
          </a:xfrm>
          <a:prstGeom prst="rect">
            <a:avLst/>
          </a:prstGeom>
        </p:spPr>
      </p:pic>
      <p:pic>
        <p:nvPicPr>
          <p:cNvPr id="9" name="Platshållare för innehåll 5">
            <a:extLst>
              <a:ext uri="{FF2B5EF4-FFF2-40B4-BE49-F238E27FC236}">
                <a16:creationId xmlns:a16="http://schemas.microsoft.com/office/drawing/2014/main" id="{B9F91CF5-9C0E-DE42-4FEA-28EF01FA57B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100458" y="3499778"/>
            <a:ext cx="3004458" cy="1001486"/>
          </a:xfrm>
          <a:prstGeom prst="rect">
            <a:avLst/>
          </a:prstGeom>
        </p:spPr>
      </p:pic>
      <p:pic>
        <p:nvPicPr>
          <p:cNvPr id="10" name="Platshållare för innehåll 5">
            <a:extLst>
              <a:ext uri="{FF2B5EF4-FFF2-40B4-BE49-F238E27FC236}">
                <a16:creationId xmlns:a16="http://schemas.microsoft.com/office/drawing/2014/main" id="{027A4175-C467-FC58-4745-3F0DCAA01732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008916" y="4654438"/>
            <a:ext cx="3004458" cy="1001486"/>
          </a:xfrm>
          <a:prstGeom prst="rect">
            <a:avLst/>
          </a:prstGeom>
        </p:spPr>
      </p:pic>
      <p:pic>
        <p:nvPicPr>
          <p:cNvPr id="11" name="Platshållare för innehåll 5">
            <a:extLst>
              <a:ext uri="{FF2B5EF4-FFF2-40B4-BE49-F238E27FC236}">
                <a16:creationId xmlns:a16="http://schemas.microsoft.com/office/drawing/2014/main" id="{FE3F4438-7ED1-28F7-725A-0D488A559026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9100458" y="4654438"/>
            <a:ext cx="3004458" cy="1001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4475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B3F71FC2-CC1A-6238-13E4-7F3ED56DF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sv-SE" dirty="0" err="1"/>
              <a:t>Network</a:t>
            </a:r>
            <a:r>
              <a:rPr lang="sv-SE" dirty="0"/>
              <a:t> </a:t>
            </a:r>
            <a:r>
              <a:rPr lang="sv-SE" dirty="0" err="1"/>
              <a:t>Architecture</a:t>
            </a:r>
            <a:r>
              <a:rPr lang="sv-SE" dirty="0"/>
              <a:t> – </a:t>
            </a:r>
            <a:r>
              <a:rPr lang="sv-SE" dirty="0" err="1"/>
              <a:t>Tiny</a:t>
            </a:r>
            <a:r>
              <a:rPr lang="sv-SE" dirty="0"/>
              <a:t> U-Net</a:t>
            </a:r>
            <a:br>
              <a:rPr lang="sv-SE" dirty="0"/>
            </a:br>
            <a:r>
              <a:rPr lang="sv-SE" dirty="0"/>
              <a:t>(500K </a:t>
            </a:r>
            <a:r>
              <a:rPr lang="sv-SE" dirty="0" err="1"/>
              <a:t>params</a:t>
            </a:r>
            <a:r>
              <a:rPr lang="sv-SE" dirty="0"/>
              <a:t>)</a:t>
            </a:r>
          </a:p>
        </p:txBody>
      </p:sp>
      <p:sp>
        <p:nvSpPr>
          <p:cNvPr id="3" name="Rektangel 2">
            <a:extLst>
              <a:ext uri="{FF2B5EF4-FFF2-40B4-BE49-F238E27FC236}">
                <a16:creationId xmlns:a16="http://schemas.microsoft.com/office/drawing/2014/main" id="{780104B5-3F04-5C9D-9A1B-F486C1BB7695}"/>
              </a:ext>
            </a:extLst>
          </p:cNvPr>
          <p:cNvSpPr/>
          <p:nvPr/>
        </p:nvSpPr>
        <p:spPr>
          <a:xfrm>
            <a:off x="1867256" y="2281727"/>
            <a:ext cx="538385" cy="324740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5" name="Höger 4">
            <a:extLst>
              <a:ext uri="{FF2B5EF4-FFF2-40B4-BE49-F238E27FC236}">
                <a16:creationId xmlns:a16="http://schemas.microsoft.com/office/drawing/2014/main" id="{781FFFD8-2D8E-747B-5477-B03112B45DAD}"/>
              </a:ext>
            </a:extLst>
          </p:cNvPr>
          <p:cNvSpPr/>
          <p:nvPr/>
        </p:nvSpPr>
        <p:spPr>
          <a:xfrm>
            <a:off x="1576699" y="2314842"/>
            <a:ext cx="290557" cy="258510"/>
          </a:xfrm>
          <a:prstGeom prst="rightArrow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0BCCA099-FD50-A9BF-4413-DD1CB2A8D2B5}"/>
              </a:ext>
            </a:extLst>
          </p:cNvPr>
          <p:cNvSpPr txBox="1"/>
          <p:nvPr/>
        </p:nvSpPr>
        <p:spPr>
          <a:xfrm>
            <a:off x="786215" y="2314842"/>
            <a:ext cx="85030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1050" dirty="0"/>
              <a:t>3x256x256</a:t>
            </a:r>
          </a:p>
        </p:txBody>
      </p:sp>
      <p:sp>
        <p:nvSpPr>
          <p:cNvPr id="7" name="textruta 6">
            <a:extLst>
              <a:ext uri="{FF2B5EF4-FFF2-40B4-BE49-F238E27FC236}">
                <a16:creationId xmlns:a16="http://schemas.microsoft.com/office/drawing/2014/main" id="{B55C572F-A7CC-8210-D0CC-83B512C9202B}"/>
              </a:ext>
            </a:extLst>
          </p:cNvPr>
          <p:cNvSpPr txBox="1"/>
          <p:nvPr/>
        </p:nvSpPr>
        <p:spPr>
          <a:xfrm>
            <a:off x="2405640" y="2314842"/>
            <a:ext cx="100413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1050" dirty="0"/>
              <a:t>16x256x256</a:t>
            </a:r>
          </a:p>
        </p:txBody>
      </p:sp>
      <p:sp>
        <p:nvSpPr>
          <p:cNvPr id="8" name="Ned 7">
            <a:extLst>
              <a:ext uri="{FF2B5EF4-FFF2-40B4-BE49-F238E27FC236}">
                <a16:creationId xmlns:a16="http://schemas.microsoft.com/office/drawing/2014/main" id="{D24F82C3-F4FE-DA38-1520-977255B0D461}"/>
              </a:ext>
            </a:extLst>
          </p:cNvPr>
          <p:cNvSpPr/>
          <p:nvPr/>
        </p:nvSpPr>
        <p:spPr>
          <a:xfrm>
            <a:off x="2132175" y="2700471"/>
            <a:ext cx="273465" cy="32474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9" name="Rektangel 8">
            <a:extLst>
              <a:ext uri="{FF2B5EF4-FFF2-40B4-BE49-F238E27FC236}">
                <a16:creationId xmlns:a16="http://schemas.microsoft.com/office/drawing/2014/main" id="{D5B8EC9C-CA9B-EDA6-1670-5FF522C54B1C}"/>
              </a:ext>
            </a:extLst>
          </p:cNvPr>
          <p:cNvSpPr/>
          <p:nvPr/>
        </p:nvSpPr>
        <p:spPr>
          <a:xfrm>
            <a:off x="2132175" y="3119215"/>
            <a:ext cx="538385" cy="324740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A7369E87-DD52-8118-DCDE-CDD6CB7F9CD3}"/>
              </a:ext>
            </a:extLst>
          </p:cNvPr>
          <p:cNvSpPr txBox="1"/>
          <p:nvPr/>
        </p:nvSpPr>
        <p:spPr>
          <a:xfrm>
            <a:off x="1145136" y="3152330"/>
            <a:ext cx="93577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1050" dirty="0"/>
              <a:t>16x128x128</a:t>
            </a:r>
          </a:p>
        </p:txBody>
      </p:sp>
      <p:sp>
        <p:nvSpPr>
          <p:cNvPr id="12" name="textruta 11">
            <a:extLst>
              <a:ext uri="{FF2B5EF4-FFF2-40B4-BE49-F238E27FC236}">
                <a16:creationId xmlns:a16="http://schemas.microsoft.com/office/drawing/2014/main" id="{7FC0353D-CA6E-CFBB-41EE-F309063D9A25}"/>
              </a:ext>
            </a:extLst>
          </p:cNvPr>
          <p:cNvSpPr txBox="1"/>
          <p:nvPr/>
        </p:nvSpPr>
        <p:spPr>
          <a:xfrm>
            <a:off x="2670560" y="3152330"/>
            <a:ext cx="93577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1050" dirty="0"/>
              <a:t>32x128x128</a:t>
            </a:r>
          </a:p>
        </p:txBody>
      </p:sp>
      <p:sp>
        <p:nvSpPr>
          <p:cNvPr id="13" name="Ned 12">
            <a:extLst>
              <a:ext uri="{FF2B5EF4-FFF2-40B4-BE49-F238E27FC236}">
                <a16:creationId xmlns:a16="http://schemas.microsoft.com/office/drawing/2014/main" id="{0679AF50-0E4A-4016-AFBF-4BBC30B0FA80}"/>
              </a:ext>
            </a:extLst>
          </p:cNvPr>
          <p:cNvSpPr/>
          <p:nvPr/>
        </p:nvSpPr>
        <p:spPr>
          <a:xfrm>
            <a:off x="2401367" y="3528345"/>
            <a:ext cx="273465" cy="32474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4" name="Rektangel 13">
            <a:extLst>
              <a:ext uri="{FF2B5EF4-FFF2-40B4-BE49-F238E27FC236}">
                <a16:creationId xmlns:a16="http://schemas.microsoft.com/office/drawing/2014/main" id="{8618EFF4-F376-78D8-D9C9-E4C3F7FFC3B4}"/>
              </a:ext>
            </a:extLst>
          </p:cNvPr>
          <p:cNvSpPr/>
          <p:nvPr/>
        </p:nvSpPr>
        <p:spPr>
          <a:xfrm>
            <a:off x="2401367" y="3947089"/>
            <a:ext cx="538385" cy="324740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5" name="textruta 14">
            <a:extLst>
              <a:ext uri="{FF2B5EF4-FFF2-40B4-BE49-F238E27FC236}">
                <a16:creationId xmlns:a16="http://schemas.microsoft.com/office/drawing/2014/main" id="{3B0D0AB2-B3E3-6375-EE80-8F048D2CE7E8}"/>
              </a:ext>
            </a:extLst>
          </p:cNvPr>
          <p:cNvSpPr txBox="1"/>
          <p:nvPr/>
        </p:nvSpPr>
        <p:spPr>
          <a:xfrm>
            <a:off x="1576699" y="3989818"/>
            <a:ext cx="79048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1050" dirty="0"/>
              <a:t>32x64x64</a:t>
            </a:r>
          </a:p>
        </p:txBody>
      </p:sp>
      <p:sp>
        <p:nvSpPr>
          <p:cNvPr id="16" name="textruta 15">
            <a:extLst>
              <a:ext uri="{FF2B5EF4-FFF2-40B4-BE49-F238E27FC236}">
                <a16:creationId xmlns:a16="http://schemas.microsoft.com/office/drawing/2014/main" id="{42AB0FDF-2126-F4FD-F041-79B5366D96CE}"/>
              </a:ext>
            </a:extLst>
          </p:cNvPr>
          <p:cNvSpPr txBox="1"/>
          <p:nvPr/>
        </p:nvSpPr>
        <p:spPr>
          <a:xfrm>
            <a:off x="2939752" y="3980204"/>
            <a:ext cx="93577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1050" dirty="0"/>
              <a:t>64x64x64</a:t>
            </a:r>
          </a:p>
        </p:txBody>
      </p:sp>
      <p:sp>
        <p:nvSpPr>
          <p:cNvPr id="17" name="Ned 16">
            <a:extLst>
              <a:ext uri="{FF2B5EF4-FFF2-40B4-BE49-F238E27FC236}">
                <a16:creationId xmlns:a16="http://schemas.microsoft.com/office/drawing/2014/main" id="{BEDF4E91-E7E7-E8C9-F337-C77DEAB711C0}"/>
              </a:ext>
            </a:extLst>
          </p:cNvPr>
          <p:cNvSpPr/>
          <p:nvPr/>
        </p:nvSpPr>
        <p:spPr>
          <a:xfrm>
            <a:off x="2670559" y="4373311"/>
            <a:ext cx="273465" cy="32474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8" name="Rektangel 17">
            <a:extLst>
              <a:ext uri="{FF2B5EF4-FFF2-40B4-BE49-F238E27FC236}">
                <a16:creationId xmlns:a16="http://schemas.microsoft.com/office/drawing/2014/main" id="{90570BAC-C113-9956-C8DB-CF92ACEAE94C}"/>
              </a:ext>
            </a:extLst>
          </p:cNvPr>
          <p:cNvSpPr/>
          <p:nvPr/>
        </p:nvSpPr>
        <p:spPr>
          <a:xfrm>
            <a:off x="2670559" y="4792055"/>
            <a:ext cx="538385" cy="324740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9" name="textruta 18">
            <a:extLst>
              <a:ext uri="{FF2B5EF4-FFF2-40B4-BE49-F238E27FC236}">
                <a16:creationId xmlns:a16="http://schemas.microsoft.com/office/drawing/2014/main" id="{C9F6210C-946E-8683-08E2-3F2AAD485EB0}"/>
              </a:ext>
            </a:extLst>
          </p:cNvPr>
          <p:cNvSpPr txBox="1"/>
          <p:nvPr/>
        </p:nvSpPr>
        <p:spPr>
          <a:xfrm>
            <a:off x="1845891" y="4834784"/>
            <a:ext cx="79048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1050" dirty="0"/>
              <a:t>64x32x32</a:t>
            </a:r>
          </a:p>
        </p:txBody>
      </p:sp>
      <p:sp>
        <p:nvSpPr>
          <p:cNvPr id="20" name="textruta 19">
            <a:extLst>
              <a:ext uri="{FF2B5EF4-FFF2-40B4-BE49-F238E27FC236}">
                <a16:creationId xmlns:a16="http://schemas.microsoft.com/office/drawing/2014/main" id="{DA6E5413-4E84-A910-3A4F-0CE7AF43ACB4}"/>
              </a:ext>
            </a:extLst>
          </p:cNvPr>
          <p:cNvSpPr txBox="1"/>
          <p:nvPr/>
        </p:nvSpPr>
        <p:spPr>
          <a:xfrm>
            <a:off x="3208944" y="4825170"/>
            <a:ext cx="93577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1050" dirty="0"/>
              <a:t>128x32x32</a:t>
            </a:r>
          </a:p>
        </p:txBody>
      </p:sp>
      <p:sp>
        <p:nvSpPr>
          <p:cNvPr id="22" name="Ned 21">
            <a:extLst>
              <a:ext uri="{FF2B5EF4-FFF2-40B4-BE49-F238E27FC236}">
                <a16:creationId xmlns:a16="http://schemas.microsoft.com/office/drawing/2014/main" id="{A45FBA6D-503B-6096-A38C-88D96FE683DD}"/>
              </a:ext>
            </a:extLst>
          </p:cNvPr>
          <p:cNvSpPr/>
          <p:nvPr/>
        </p:nvSpPr>
        <p:spPr>
          <a:xfrm>
            <a:off x="6685658" y="4371015"/>
            <a:ext cx="273465" cy="324740"/>
          </a:xfrm>
          <a:prstGeom prst="downArrow">
            <a:avLst/>
          </a:prstGeom>
          <a:solidFill>
            <a:srgbClr val="FF0000"/>
          </a:solidFill>
          <a:scene3d>
            <a:camera prst="orthographicFront">
              <a:rot lat="0" lon="0" rev="1080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3" name="Rektangel 22">
            <a:extLst>
              <a:ext uri="{FF2B5EF4-FFF2-40B4-BE49-F238E27FC236}">
                <a16:creationId xmlns:a16="http://schemas.microsoft.com/office/drawing/2014/main" id="{A74AF5FA-F356-5AED-BAE4-49231A825ADF}"/>
              </a:ext>
            </a:extLst>
          </p:cNvPr>
          <p:cNvSpPr/>
          <p:nvPr/>
        </p:nvSpPr>
        <p:spPr>
          <a:xfrm>
            <a:off x="6685658" y="3944792"/>
            <a:ext cx="538385" cy="32474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4" name="Ned 23">
            <a:extLst>
              <a:ext uri="{FF2B5EF4-FFF2-40B4-BE49-F238E27FC236}">
                <a16:creationId xmlns:a16="http://schemas.microsoft.com/office/drawing/2014/main" id="{7C0155CC-A8C5-D841-0A0E-B9243D266B7C}"/>
              </a:ext>
            </a:extLst>
          </p:cNvPr>
          <p:cNvSpPr/>
          <p:nvPr/>
        </p:nvSpPr>
        <p:spPr>
          <a:xfrm>
            <a:off x="6954850" y="3535798"/>
            <a:ext cx="273465" cy="324740"/>
          </a:xfrm>
          <a:prstGeom prst="downArrow">
            <a:avLst/>
          </a:prstGeom>
          <a:solidFill>
            <a:srgbClr val="FF0000"/>
          </a:solidFill>
          <a:scene3d>
            <a:camera prst="orthographicFront">
              <a:rot lat="0" lon="0" rev="1080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5" name="Rektangel 24">
            <a:extLst>
              <a:ext uri="{FF2B5EF4-FFF2-40B4-BE49-F238E27FC236}">
                <a16:creationId xmlns:a16="http://schemas.microsoft.com/office/drawing/2014/main" id="{948159A7-7CB3-6E36-CD9E-FE681067D32F}"/>
              </a:ext>
            </a:extLst>
          </p:cNvPr>
          <p:cNvSpPr/>
          <p:nvPr/>
        </p:nvSpPr>
        <p:spPr>
          <a:xfrm>
            <a:off x="6959123" y="3104260"/>
            <a:ext cx="538385" cy="32474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6" name="Ned 25">
            <a:extLst>
              <a:ext uri="{FF2B5EF4-FFF2-40B4-BE49-F238E27FC236}">
                <a16:creationId xmlns:a16="http://schemas.microsoft.com/office/drawing/2014/main" id="{565391CA-B8F3-392F-FE7E-8B161CB46A14}"/>
              </a:ext>
            </a:extLst>
          </p:cNvPr>
          <p:cNvSpPr/>
          <p:nvPr/>
        </p:nvSpPr>
        <p:spPr>
          <a:xfrm>
            <a:off x="7228315" y="2695266"/>
            <a:ext cx="273465" cy="324740"/>
          </a:xfrm>
          <a:prstGeom prst="downArrow">
            <a:avLst/>
          </a:prstGeom>
          <a:solidFill>
            <a:srgbClr val="FF0000"/>
          </a:solidFill>
          <a:scene3d>
            <a:camera prst="orthographicFront">
              <a:rot lat="0" lon="0" rev="1080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7" name="Rektangel 26">
            <a:extLst>
              <a:ext uri="{FF2B5EF4-FFF2-40B4-BE49-F238E27FC236}">
                <a16:creationId xmlns:a16="http://schemas.microsoft.com/office/drawing/2014/main" id="{2CB121A2-AAF0-A3B3-A291-89A71E12F958}"/>
              </a:ext>
            </a:extLst>
          </p:cNvPr>
          <p:cNvSpPr/>
          <p:nvPr/>
        </p:nvSpPr>
        <p:spPr>
          <a:xfrm>
            <a:off x="7228315" y="2255953"/>
            <a:ext cx="538385" cy="32474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8" name="Höger 27">
            <a:extLst>
              <a:ext uri="{FF2B5EF4-FFF2-40B4-BE49-F238E27FC236}">
                <a16:creationId xmlns:a16="http://schemas.microsoft.com/office/drawing/2014/main" id="{98C76D79-39B4-7E10-2025-E5C44C66ECE6}"/>
              </a:ext>
            </a:extLst>
          </p:cNvPr>
          <p:cNvSpPr/>
          <p:nvPr/>
        </p:nvSpPr>
        <p:spPr>
          <a:xfrm>
            <a:off x="7787720" y="2310149"/>
            <a:ext cx="290557" cy="258510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9" name="Höger 28">
            <a:extLst>
              <a:ext uri="{FF2B5EF4-FFF2-40B4-BE49-F238E27FC236}">
                <a16:creationId xmlns:a16="http://schemas.microsoft.com/office/drawing/2014/main" id="{FDACC25C-2F48-3B84-DEB8-74875C9284AF}"/>
              </a:ext>
            </a:extLst>
          </p:cNvPr>
          <p:cNvSpPr/>
          <p:nvPr/>
        </p:nvSpPr>
        <p:spPr>
          <a:xfrm>
            <a:off x="4144714" y="4820576"/>
            <a:ext cx="2676500" cy="25851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0" name="Höger 29">
            <a:extLst>
              <a:ext uri="{FF2B5EF4-FFF2-40B4-BE49-F238E27FC236}">
                <a16:creationId xmlns:a16="http://schemas.microsoft.com/office/drawing/2014/main" id="{659F1E64-750E-5420-5FCF-CFD79D45FDFD}"/>
              </a:ext>
            </a:extLst>
          </p:cNvPr>
          <p:cNvSpPr/>
          <p:nvPr/>
        </p:nvSpPr>
        <p:spPr>
          <a:xfrm>
            <a:off x="3839072" y="3962460"/>
            <a:ext cx="2676500" cy="25851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1" name="Höger 30">
            <a:extLst>
              <a:ext uri="{FF2B5EF4-FFF2-40B4-BE49-F238E27FC236}">
                <a16:creationId xmlns:a16="http://schemas.microsoft.com/office/drawing/2014/main" id="{39B3B42C-D79E-A670-AC2B-9F70AB57B29C}"/>
              </a:ext>
            </a:extLst>
          </p:cNvPr>
          <p:cNvSpPr/>
          <p:nvPr/>
        </p:nvSpPr>
        <p:spPr>
          <a:xfrm>
            <a:off x="3699641" y="3137375"/>
            <a:ext cx="3121573" cy="25851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2" name="Höger 31">
            <a:extLst>
              <a:ext uri="{FF2B5EF4-FFF2-40B4-BE49-F238E27FC236}">
                <a16:creationId xmlns:a16="http://schemas.microsoft.com/office/drawing/2014/main" id="{98D66535-0CBB-88AE-A65C-111FB9E73352}"/>
              </a:ext>
            </a:extLst>
          </p:cNvPr>
          <p:cNvSpPr/>
          <p:nvPr/>
        </p:nvSpPr>
        <p:spPr>
          <a:xfrm>
            <a:off x="3409772" y="2312777"/>
            <a:ext cx="3674200" cy="25851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3" name="textruta 32">
            <a:extLst>
              <a:ext uri="{FF2B5EF4-FFF2-40B4-BE49-F238E27FC236}">
                <a16:creationId xmlns:a16="http://schemas.microsoft.com/office/drawing/2014/main" id="{50891ED2-2285-CFEE-934C-F0F989D51512}"/>
              </a:ext>
            </a:extLst>
          </p:cNvPr>
          <p:cNvSpPr txBox="1"/>
          <p:nvPr/>
        </p:nvSpPr>
        <p:spPr>
          <a:xfrm>
            <a:off x="8078277" y="2326777"/>
            <a:ext cx="85030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1050" dirty="0"/>
              <a:t>4x256x256</a:t>
            </a:r>
          </a:p>
        </p:txBody>
      </p:sp>
      <p:sp>
        <p:nvSpPr>
          <p:cNvPr id="34" name="Rektangel 33">
            <a:extLst>
              <a:ext uri="{FF2B5EF4-FFF2-40B4-BE49-F238E27FC236}">
                <a16:creationId xmlns:a16="http://schemas.microsoft.com/office/drawing/2014/main" id="{8A58379D-73EC-A727-AD0B-B1A9BDE56332}"/>
              </a:ext>
            </a:extLst>
          </p:cNvPr>
          <p:cNvSpPr/>
          <p:nvPr/>
        </p:nvSpPr>
        <p:spPr>
          <a:xfrm>
            <a:off x="9056515" y="3944792"/>
            <a:ext cx="538385" cy="324740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5" name="textruta 34">
            <a:extLst>
              <a:ext uri="{FF2B5EF4-FFF2-40B4-BE49-F238E27FC236}">
                <a16:creationId xmlns:a16="http://schemas.microsoft.com/office/drawing/2014/main" id="{CAAA7DD8-C68F-7A12-301E-CD3F87EA2529}"/>
              </a:ext>
            </a:extLst>
          </p:cNvPr>
          <p:cNvSpPr txBox="1"/>
          <p:nvPr/>
        </p:nvSpPr>
        <p:spPr>
          <a:xfrm>
            <a:off x="9594900" y="3937826"/>
            <a:ext cx="10720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1400" dirty="0"/>
              <a:t>2 * CBR</a:t>
            </a:r>
          </a:p>
        </p:txBody>
      </p:sp>
      <p:sp>
        <p:nvSpPr>
          <p:cNvPr id="36" name="Rektangel 35">
            <a:extLst>
              <a:ext uri="{FF2B5EF4-FFF2-40B4-BE49-F238E27FC236}">
                <a16:creationId xmlns:a16="http://schemas.microsoft.com/office/drawing/2014/main" id="{55903F40-9488-BB4D-AAA6-7D79882102E2}"/>
              </a:ext>
            </a:extLst>
          </p:cNvPr>
          <p:cNvSpPr/>
          <p:nvPr/>
        </p:nvSpPr>
        <p:spPr>
          <a:xfrm>
            <a:off x="9056515" y="4438116"/>
            <a:ext cx="538385" cy="32474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7" name="textruta 36">
            <a:extLst>
              <a:ext uri="{FF2B5EF4-FFF2-40B4-BE49-F238E27FC236}">
                <a16:creationId xmlns:a16="http://schemas.microsoft.com/office/drawing/2014/main" id="{F9024406-4B02-CBE4-3672-C378F2FD20F7}"/>
              </a:ext>
            </a:extLst>
          </p:cNvPr>
          <p:cNvSpPr txBox="1"/>
          <p:nvPr/>
        </p:nvSpPr>
        <p:spPr>
          <a:xfrm>
            <a:off x="9628701" y="4438116"/>
            <a:ext cx="20635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1400" dirty="0"/>
              <a:t>2 * CBR + </a:t>
            </a:r>
            <a:r>
              <a:rPr lang="sv-SE" sz="1400" dirty="0" err="1"/>
              <a:t>skip</a:t>
            </a:r>
            <a:r>
              <a:rPr lang="sv-SE" sz="1400" dirty="0"/>
              <a:t> </a:t>
            </a:r>
            <a:r>
              <a:rPr lang="sv-SE" sz="1400" dirty="0" err="1"/>
              <a:t>concat</a:t>
            </a:r>
            <a:endParaRPr lang="sv-SE" sz="1400" dirty="0"/>
          </a:p>
        </p:txBody>
      </p:sp>
      <p:sp>
        <p:nvSpPr>
          <p:cNvPr id="38" name="Ned 37">
            <a:extLst>
              <a:ext uri="{FF2B5EF4-FFF2-40B4-BE49-F238E27FC236}">
                <a16:creationId xmlns:a16="http://schemas.microsoft.com/office/drawing/2014/main" id="{13E35B0E-7ADC-FD63-6A1D-E547E341C26F}"/>
              </a:ext>
            </a:extLst>
          </p:cNvPr>
          <p:cNvSpPr/>
          <p:nvPr/>
        </p:nvSpPr>
        <p:spPr>
          <a:xfrm>
            <a:off x="9208965" y="4916716"/>
            <a:ext cx="273465" cy="32474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9" name="textruta 38">
            <a:extLst>
              <a:ext uri="{FF2B5EF4-FFF2-40B4-BE49-F238E27FC236}">
                <a16:creationId xmlns:a16="http://schemas.microsoft.com/office/drawing/2014/main" id="{5AA8D7B4-1877-B652-9D2C-8AFF6C4813F0}"/>
              </a:ext>
            </a:extLst>
          </p:cNvPr>
          <p:cNvSpPr txBox="1"/>
          <p:nvPr/>
        </p:nvSpPr>
        <p:spPr>
          <a:xfrm>
            <a:off x="9628702" y="4917576"/>
            <a:ext cx="11969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1400" dirty="0"/>
              <a:t>Max Pool 2x2</a:t>
            </a:r>
          </a:p>
        </p:txBody>
      </p:sp>
      <p:sp>
        <p:nvSpPr>
          <p:cNvPr id="40" name="Ned 39">
            <a:extLst>
              <a:ext uri="{FF2B5EF4-FFF2-40B4-BE49-F238E27FC236}">
                <a16:creationId xmlns:a16="http://schemas.microsoft.com/office/drawing/2014/main" id="{06BDCA9E-FB09-FB56-BF25-EA0BB8F221A9}"/>
              </a:ext>
            </a:extLst>
          </p:cNvPr>
          <p:cNvSpPr/>
          <p:nvPr/>
        </p:nvSpPr>
        <p:spPr>
          <a:xfrm>
            <a:off x="9208965" y="5395316"/>
            <a:ext cx="273465" cy="324740"/>
          </a:xfrm>
          <a:prstGeom prst="downArrow">
            <a:avLst/>
          </a:prstGeom>
          <a:solidFill>
            <a:srgbClr val="FF0000"/>
          </a:solidFill>
          <a:scene3d>
            <a:camera prst="orthographicFront">
              <a:rot lat="0" lon="0" rev="1080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1" name="textruta 40">
            <a:extLst>
              <a:ext uri="{FF2B5EF4-FFF2-40B4-BE49-F238E27FC236}">
                <a16:creationId xmlns:a16="http://schemas.microsoft.com/office/drawing/2014/main" id="{7383F6CC-7FAC-455D-CDBD-B07988DBBD04}"/>
              </a:ext>
            </a:extLst>
          </p:cNvPr>
          <p:cNvSpPr txBox="1"/>
          <p:nvPr/>
        </p:nvSpPr>
        <p:spPr>
          <a:xfrm>
            <a:off x="9593855" y="5388315"/>
            <a:ext cx="13789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1400" dirty="0"/>
              <a:t>Transpose </a:t>
            </a:r>
            <a:r>
              <a:rPr lang="sv-SE" sz="1400" dirty="0" err="1"/>
              <a:t>conv</a:t>
            </a:r>
            <a:endParaRPr lang="sv-SE" sz="1400" dirty="0"/>
          </a:p>
        </p:txBody>
      </p:sp>
      <p:sp>
        <p:nvSpPr>
          <p:cNvPr id="42" name="Höger 41">
            <a:extLst>
              <a:ext uri="{FF2B5EF4-FFF2-40B4-BE49-F238E27FC236}">
                <a16:creationId xmlns:a16="http://schemas.microsoft.com/office/drawing/2014/main" id="{DDC7109D-0337-D00D-265C-86352044BDC4}"/>
              </a:ext>
            </a:extLst>
          </p:cNvPr>
          <p:cNvSpPr/>
          <p:nvPr/>
        </p:nvSpPr>
        <p:spPr>
          <a:xfrm>
            <a:off x="9108405" y="5913690"/>
            <a:ext cx="474583" cy="25851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3" name="textruta 42">
            <a:extLst>
              <a:ext uri="{FF2B5EF4-FFF2-40B4-BE49-F238E27FC236}">
                <a16:creationId xmlns:a16="http://schemas.microsoft.com/office/drawing/2014/main" id="{FE4CD512-D533-B778-0953-1294BC192EC4}"/>
              </a:ext>
            </a:extLst>
          </p:cNvPr>
          <p:cNvSpPr txBox="1"/>
          <p:nvPr/>
        </p:nvSpPr>
        <p:spPr>
          <a:xfrm>
            <a:off x="9593854" y="5850812"/>
            <a:ext cx="1512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1400" dirty="0" err="1"/>
              <a:t>Skip</a:t>
            </a:r>
            <a:r>
              <a:rPr lang="sv-SE" sz="1400" dirty="0"/>
              <a:t> </a:t>
            </a:r>
            <a:r>
              <a:rPr lang="sv-SE" sz="1400" dirty="0" err="1"/>
              <a:t>connection</a:t>
            </a:r>
            <a:endParaRPr lang="sv-SE" sz="1400" dirty="0"/>
          </a:p>
        </p:txBody>
      </p:sp>
    </p:spTree>
    <p:extLst>
      <p:ext uri="{BB962C8B-B14F-4D97-AF65-F5344CB8AC3E}">
        <p14:creationId xmlns:p14="http://schemas.microsoft.com/office/powerpoint/2010/main" val="23307278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5442E1E7-544D-BD99-0D55-EFC9F2098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sv-SE" dirty="0"/>
              <a:t>Choices for the </a:t>
            </a:r>
            <a:r>
              <a:rPr lang="sv-SE" dirty="0" err="1"/>
              <a:t>Training</a:t>
            </a:r>
            <a:r>
              <a:rPr lang="sv-SE" dirty="0"/>
              <a:t> Loop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60390701-9C6A-1BE6-6378-4729A5737B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sv-SE" dirty="0"/>
              <a:t>Mixed loss </a:t>
            </a:r>
            <a:r>
              <a:rPr lang="sv-SE" dirty="0" err="1"/>
              <a:t>function</a:t>
            </a:r>
            <a:r>
              <a:rPr lang="sv-SE" dirty="0"/>
              <a:t>:</a:t>
            </a:r>
          </a:p>
          <a:p>
            <a:pPr lvl="1"/>
            <a:r>
              <a:rPr lang="sv-SE" dirty="0" err="1"/>
              <a:t>Binary</a:t>
            </a:r>
            <a:r>
              <a:rPr lang="sv-SE" dirty="0"/>
              <a:t> Cross </a:t>
            </a:r>
            <a:r>
              <a:rPr lang="sv-SE" dirty="0" err="1"/>
              <a:t>Entropy</a:t>
            </a:r>
            <a:r>
              <a:rPr lang="sv-SE" dirty="0"/>
              <a:t> – </a:t>
            </a:r>
            <a:r>
              <a:rPr lang="sv-SE" dirty="0" err="1"/>
              <a:t>selecting</a:t>
            </a:r>
            <a:r>
              <a:rPr lang="sv-SE" dirty="0"/>
              <a:t> </a:t>
            </a:r>
            <a:r>
              <a:rPr lang="sv-SE" dirty="0" err="1"/>
              <a:t>between</a:t>
            </a:r>
            <a:r>
              <a:rPr lang="sv-SE" dirty="0"/>
              <a:t> </a:t>
            </a:r>
            <a:r>
              <a:rPr lang="sv-SE" dirty="0" err="1"/>
              <a:t>two</a:t>
            </a:r>
            <a:r>
              <a:rPr lang="sv-SE" dirty="0"/>
              <a:t> </a:t>
            </a:r>
            <a:r>
              <a:rPr lang="sv-SE" dirty="0" err="1"/>
              <a:t>classes</a:t>
            </a:r>
            <a:r>
              <a:rPr lang="sv-SE" dirty="0"/>
              <a:t>, corner or no-corner.</a:t>
            </a:r>
          </a:p>
          <a:p>
            <a:pPr lvl="1"/>
            <a:r>
              <a:rPr lang="sv-SE" dirty="0"/>
              <a:t>Dice/</a:t>
            </a:r>
            <a:r>
              <a:rPr lang="sv-SE" dirty="0" err="1"/>
              <a:t>IoU</a:t>
            </a:r>
            <a:r>
              <a:rPr lang="sv-SE" dirty="0"/>
              <a:t> – </a:t>
            </a:r>
            <a:r>
              <a:rPr lang="sv-SE" dirty="0" err="1"/>
              <a:t>optimize</a:t>
            </a:r>
            <a:r>
              <a:rPr lang="sv-SE" dirty="0"/>
              <a:t> for </a:t>
            </a:r>
            <a:r>
              <a:rPr lang="sv-SE" dirty="0" err="1"/>
              <a:t>structural</a:t>
            </a:r>
            <a:r>
              <a:rPr lang="sv-SE" dirty="0"/>
              <a:t> </a:t>
            </a:r>
            <a:r>
              <a:rPr lang="sv-SE" dirty="0" err="1"/>
              <a:t>alignment</a:t>
            </a:r>
            <a:r>
              <a:rPr lang="sv-SE" dirty="0"/>
              <a:t>.</a:t>
            </a:r>
          </a:p>
          <a:p>
            <a:r>
              <a:rPr lang="sv-SE" dirty="0" err="1"/>
              <a:t>Variable</a:t>
            </a:r>
            <a:r>
              <a:rPr lang="sv-SE" dirty="0"/>
              <a:t> </a:t>
            </a:r>
            <a:r>
              <a:rPr lang="sv-SE" dirty="0" err="1"/>
              <a:t>learning</a:t>
            </a:r>
            <a:r>
              <a:rPr lang="sv-SE" dirty="0"/>
              <a:t> rate:</a:t>
            </a:r>
          </a:p>
          <a:p>
            <a:pPr lvl="1"/>
            <a:r>
              <a:rPr lang="sv-SE" dirty="0"/>
              <a:t>Three </a:t>
            </a:r>
            <a:r>
              <a:rPr lang="sv-SE" dirty="0" err="1"/>
              <a:t>epochs</a:t>
            </a:r>
            <a:r>
              <a:rPr lang="sv-SE" dirty="0"/>
              <a:t> </a:t>
            </a:r>
            <a:r>
              <a:rPr lang="sv-SE" dirty="0" err="1"/>
              <a:t>warmup</a:t>
            </a:r>
            <a:r>
              <a:rPr lang="sv-SE" dirty="0"/>
              <a:t> </a:t>
            </a:r>
            <a:r>
              <a:rPr lang="sv-SE" dirty="0" err="1"/>
              <a:t>with</a:t>
            </a:r>
            <a:r>
              <a:rPr lang="sv-SE" dirty="0"/>
              <a:t> </a:t>
            </a:r>
            <a:r>
              <a:rPr lang="sv-SE" dirty="0" err="1"/>
              <a:t>lower</a:t>
            </a:r>
            <a:r>
              <a:rPr lang="sv-SE" dirty="0"/>
              <a:t>, </a:t>
            </a:r>
            <a:r>
              <a:rPr lang="sv-SE" dirty="0" err="1"/>
              <a:t>constant</a:t>
            </a:r>
            <a:r>
              <a:rPr lang="sv-SE" dirty="0"/>
              <a:t> rate.</a:t>
            </a:r>
          </a:p>
          <a:p>
            <a:pPr lvl="1"/>
            <a:r>
              <a:rPr lang="sv-SE" dirty="0" err="1"/>
              <a:t>Cosine</a:t>
            </a:r>
            <a:r>
              <a:rPr lang="sv-SE" dirty="0"/>
              <a:t> </a:t>
            </a:r>
            <a:r>
              <a:rPr lang="sv-SE" dirty="0" err="1"/>
              <a:t>annealing</a:t>
            </a:r>
            <a:r>
              <a:rPr lang="sv-SE" dirty="0"/>
              <a:t>.</a:t>
            </a:r>
          </a:p>
          <a:p>
            <a:r>
              <a:rPr lang="sv-SE" dirty="0"/>
              <a:t>L2 </a:t>
            </a:r>
            <a:r>
              <a:rPr lang="sv-SE" dirty="0" err="1"/>
              <a:t>regularization</a:t>
            </a:r>
            <a:r>
              <a:rPr lang="sv-SE" dirty="0"/>
              <a:t> </a:t>
            </a:r>
            <a:r>
              <a:rPr lang="sv-SE" dirty="0" err="1"/>
              <a:t>of</a:t>
            </a:r>
            <a:r>
              <a:rPr lang="sv-SE" dirty="0"/>
              <a:t> parameters </a:t>
            </a:r>
            <a:r>
              <a:rPr lang="sv-SE" dirty="0" err="1"/>
              <a:t>using</a:t>
            </a:r>
            <a:r>
              <a:rPr lang="sv-SE" dirty="0"/>
              <a:t> </a:t>
            </a:r>
            <a:r>
              <a:rPr lang="sv-SE" dirty="0" err="1"/>
              <a:t>AdamW</a:t>
            </a:r>
            <a:r>
              <a:rPr lang="sv-SE" dirty="0"/>
              <a:t> </a:t>
            </a:r>
            <a:r>
              <a:rPr lang="sv-SE" dirty="0" err="1"/>
              <a:t>with</a:t>
            </a:r>
            <a:r>
              <a:rPr lang="sv-SE" dirty="0"/>
              <a:t> a small </a:t>
            </a:r>
            <a:r>
              <a:rPr lang="sv-SE" dirty="0" err="1"/>
              <a:t>weight</a:t>
            </a:r>
            <a:r>
              <a:rPr lang="sv-SE" dirty="0"/>
              <a:t> </a:t>
            </a:r>
            <a:r>
              <a:rPr lang="sv-SE" dirty="0" err="1"/>
              <a:t>decay</a:t>
            </a:r>
            <a:r>
              <a:rPr lang="sv-SE" dirty="0"/>
              <a:t>.</a:t>
            </a:r>
          </a:p>
          <a:p>
            <a:r>
              <a:rPr lang="sv-SE" dirty="0"/>
              <a:t>Trial and </a:t>
            </a:r>
            <a:r>
              <a:rPr lang="sv-SE" dirty="0" err="1"/>
              <a:t>error</a:t>
            </a:r>
            <a:r>
              <a:rPr lang="sv-SE" dirty="0"/>
              <a:t> for </a:t>
            </a:r>
            <a:r>
              <a:rPr lang="sv-SE" dirty="0" err="1"/>
              <a:t>finding</a:t>
            </a:r>
            <a:r>
              <a:rPr lang="sv-SE" dirty="0"/>
              <a:t> hyper parameter </a:t>
            </a:r>
            <a:r>
              <a:rPr lang="sv-SE" dirty="0" err="1"/>
              <a:t>settings</a:t>
            </a:r>
            <a:r>
              <a:rPr lang="sv-SE" dirty="0"/>
              <a:t> like:</a:t>
            </a:r>
          </a:p>
          <a:p>
            <a:pPr lvl="1"/>
            <a:r>
              <a:rPr lang="sv-SE" dirty="0"/>
              <a:t>Initial </a:t>
            </a:r>
            <a:r>
              <a:rPr lang="sv-SE" dirty="0" err="1"/>
              <a:t>learning</a:t>
            </a:r>
            <a:r>
              <a:rPr lang="sv-SE" dirty="0"/>
              <a:t> rate.</a:t>
            </a:r>
          </a:p>
          <a:p>
            <a:pPr lvl="1"/>
            <a:r>
              <a:rPr lang="sv-SE" dirty="0"/>
              <a:t>Mini—</a:t>
            </a:r>
            <a:r>
              <a:rPr lang="sv-SE" dirty="0" err="1"/>
              <a:t>batch</a:t>
            </a:r>
            <a:r>
              <a:rPr lang="sv-SE" dirty="0"/>
              <a:t> </a:t>
            </a:r>
            <a:r>
              <a:rPr lang="sv-SE" dirty="0" err="1"/>
              <a:t>size</a:t>
            </a:r>
            <a:r>
              <a:rPr lang="sv-SE" dirty="0"/>
              <a:t>.</a:t>
            </a:r>
          </a:p>
          <a:p>
            <a:pPr lvl="1"/>
            <a:r>
              <a:rPr lang="sv-SE" dirty="0" err="1"/>
              <a:t>Number</a:t>
            </a:r>
            <a:r>
              <a:rPr lang="sv-SE" dirty="0"/>
              <a:t> </a:t>
            </a:r>
            <a:r>
              <a:rPr lang="sv-SE" dirty="0" err="1"/>
              <a:t>of</a:t>
            </a:r>
            <a:r>
              <a:rPr lang="sv-SE" dirty="0"/>
              <a:t> </a:t>
            </a:r>
            <a:r>
              <a:rPr lang="sv-SE" dirty="0" err="1"/>
              <a:t>epochs</a:t>
            </a:r>
            <a:r>
              <a:rPr lang="sv-SE" dirty="0"/>
              <a:t>.</a:t>
            </a:r>
          </a:p>
          <a:p>
            <a:r>
              <a:rPr lang="sv-SE" dirty="0" err="1"/>
              <a:t>Saving</a:t>
            </a:r>
            <a:r>
              <a:rPr lang="sv-SE" dirty="0"/>
              <a:t> a new </a:t>
            </a:r>
            <a:r>
              <a:rPr lang="sv-SE" dirty="0" err="1"/>
              <a:t>model</a:t>
            </a:r>
            <a:r>
              <a:rPr lang="sv-SE" dirty="0"/>
              <a:t> snapshot </a:t>
            </a:r>
            <a:r>
              <a:rPr lang="sv-SE" dirty="0" err="1"/>
              <a:t>whenever</a:t>
            </a:r>
            <a:r>
              <a:rPr lang="sv-SE" dirty="0"/>
              <a:t> the </a:t>
            </a:r>
            <a:r>
              <a:rPr lang="sv-SE" dirty="0" err="1"/>
              <a:t>evaluation</a:t>
            </a:r>
            <a:r>
              <a:rPr lang="sv-SE" dirty="0"/>
              <a:t> </a:t>
            </a:r>
            <a:r>
              <a:rPr lang="sv-SE" dirty="0" err="1"/>
              <a:t>accuracy</a:t>
            </a:r>
            <a:r>
              <a:rPr lang="sv-SE" dirty="0"/>
              <a:t> on the </a:t>
            </a:r>
            <a:r>
              <a:rPr lang="sv-SE" dirty="0" err="1"/>
              <a:t>validation</a:t>
            </a:r>
            <a:r>
              <a:rPr lang="sv-SE" dirty="0"/>
              <a:t> set has </a:t>
            </a:r>
            <a:r>
              <a:rPr lang="sv-SE" dirty="0" err="1"/>
              <a:t>improved</a:t>
            </a:r>
            <a:r>
              <a:rPr lang="sv-SE" dirty="0"/>
              <a:t>.</a:t>
            </a:r>
          </a:p>
          <a:p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8717464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D1EBF00A-AE28-573F-3DD7-9DD5CFEE7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sv-SE" dirty="0" err="1"/>
              <a:t>Evaluation</a:t>
            </a:r>
            <a:r>
              <a:rPr lang="sv-SE" dirty="0"/>
              <a:t> </a:t>
            </a:r>
            <a:r>
              <a:rPr lang="sv-SE" dirty="0" err="1"/>
              <a:t>of</a:t>
            </a:r>
            <a:r>
              <a:rPr lang="sv-SE" dirty="0"/>
              <a:t> </a:t>
            </a:r>
            <a:r>
              <a:rPr lang="sv-SE" dirty="0" err="1"/>
              <a:t>Predicted</a:t>
            </a:r>
            <a:r>
              <a:rPr lang="sv-SE" dirty="0"/>
              <a:t> </a:t>
            </a:r>
            <a:r>
              <a:rPr lang="sv-SE" dirty="0" err="1"/>
              <a:t>Corners</a:t>
            </a:r>
            <a:endParaRPr lang="sv-SE" dirty="0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595ACA07-70B0-29CF-070D-4D9071E5581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sv-SE" dirty="0" err="1"/>
              <a:t>Evaluate</a:t>
            </a:r>
            <a:r>
              <a:rPr lang="sv-SE" dirty="0"/>
              <a:t> </a:t>
            </a:r>
            <a:r>
              <a:rPr lang="sv-SE" dirty="0" err="1"/>
              <a:t>predictions</a:t>
            </a:r>
            <a:r>
              <a:rPr lang="sv-SE" dirty="0"/>
              <a:t> from a </a:t>
            </a:r>
            <a:r>
              <a:rPr lang="sv-SE" dirty="0" err="1"/>
              <a:t>validation</a:t>
            </a:r>
            <a:r>
              <a:rPr lang="sv-SE" dirty="0"/>
              <a:t> set:</a:t>
            </a:r>
          </a:p>
          <a:p>
            <a:pPr lvl="1"/>
            <a:r>
              <a:rPr lang="sv-SE" dirty="0" err="1"/>
              <a:t>Extracting</a:t>
            </a:r>
            <a:r>
              <a:rPr lang="sv-SE" dirty="0"/>
              <a:t> </a:t>
            </a:r>
            <a:r>
              <a:rPr lang="sv-SE" dirty="0" err="1"/>
              <a:t>points</a:t>
            </a:r>
            <a:r>
              <a:rPr lang="sv-SE" dirty="0"/>
              <a:t> from </a:t>
            </a:r>
            <a:r>
              <a:rPr lang="sv-SE" dirty="0" err="1"/>
              <a:t>predicted</a:t>
            </a:r>
            <a:r>
              <a:rPr lang="sv-SE" dirty="0"/>
              <a:t> </a:t>
            </a:r>
            <a:r>
              <a:rPr lang="sv-SE" dirty="0" err="1"/>
              <a:t>heatmaps</a:t>
            </a:r>
            <a:r>
              <a:rPr lang="sv-SE" dirty="0"/>
              <a:t>.</a:t>
            </a:r>
          </a:p>
          <a:p>
            <a:pPr lvl="1"/>
            <a:r>
              <a:rPr lang="sv-SE" dirty="0" err="1"/>
              <a:t>Calculate</a:t>
            </a:r>
            <a:r>
              <a:rPr lang="sv-SE" dirty="0"/>
              <a:t> </a:t>
            </a:r>
            <a:r>
              <a:rPr lang="sv-SE" dirty="0" err="1"/>
              <a:t>mean</a:t>
            </a:r>
            <a:r>
              <a:rPr lang="sv-SE" dirty="0"/>
              <a:t> </a:t>
            </a:r>
            <a:r>
              <a:rPr lang="sv-SE" dirty="0" err="1"/>
              <a:t>Euclidean</a:t>
            </a:r>
            <a:r>
              <a:rPr lang="sv-SE" dirty="0"/>
              <a:t> </a:t>
            </a:r>
            <a:r>
              <a:rPr lang="sv-SE" dirty="0" err="1"/>
              <a:t>distance</a:t>
            </a:r>
            <a:r>
              <a:rPr lang="sv-SE" dirty="0"/>
              <a:t> </a:t>
            </a:r>
            <a:r>
              <a:rPr lang="sv-SE" dirty="0" err="1"/>
              <a:t>compared</a:t>
            </a:r>
            <a:r>
              <a:rPr lang="sv-SE" dirty="0"/>
              <a:t> to </a:t>
            </a:r>
            <a:r>
              <a:rPr lang="sv-SE" dirty="0" err="1"/>
              <a:t>ground</a:t>
            </a:r>
            <a:r>
              <a:rPr lang="sv-SE" dirty="0"/>
              <a:t> </a:t>
            </a:r>
            <a:r>
              <a:rPr lang="sv-SE" dirty="0" err="1"/>
              <a:t>truth</a:t>
            </a:r>
            <a:r>
              <a:rPr lang="sv-SE" dirty="0"/>
              <a:t> </a:t>
            </a:r>
            <a:r>
              <a:rPr lang="sv-SE" dirty="0" err="1"/>
              <a:t>points</a:t>
            </a:r>
            <a:r>
              <a:rPr lang="sv-SE" dirty="0"/>
              <a:t>.</a:t>
            </a:r>
          </a:p>
          <a:p>
            <a:pPr lvl="1"/>
            <a:r>
              <a:rPr lang="sv-SE" dirty="0" err="1"/>
              <a:t>This</a:t>
            </a:r>
            <a:r>
              <a:rPr lang="sv-SE" dirty="0"/>
              <a:t> </a:t>
            </a:r>
            <a:r>
              <a:rPr lang="sv-SE" dirty="0" err="1"/>
              <a:t>example</a:t>
            </a:r>
            <a:r>
              <a:rPr lang="sv-SE" dirty="0"/>
              <a:t> has an </a:t>
            </a:r>
            <a:r>
              <a:rPr lang="sv-SE" dirty="0" err="1"/>
              <a:t>evaluation</a:t>
            </a:r>
            <a:r>
              <a:rPr lang="sv-SE" dirty="0"/>
              <a:t> </a:t>
            </a:r>
            <a:r>
              <a:rPr lang="sv-SE" dirty="0" err="1"/>
              <a:t>accuracy</a:t>
            </a:r>
            <a:r>
              <a:rPr lang="sv-SE" dirty="0"/>
              <a:t> </a:t>
            </a:r>
            <a:r>
              <a:rPr lang="sv-SE" dirty="0" err="1"/>
              <a:t>of</a:t>
            </a:r>
            <a:r>
              <a:rPr lang="sv-SE" dirty="0"/>
              <a:t> 0.4 pixels.</a:t>
            </a:r>
          </a:p>
        </p:txBody>
      </p:sp>
      <p:pic>
        <p:nvPicPr>
          <p:cNvPr id="6" name="Platshållare för innehåll 5">
            <a:extLst>
              <a:ext uri="{FF2B5EF4-FFF2-40B4-BE49-F238E27FC236}">
                <a16:creationId xmlns:a16="http://schemas.microsoft.com/office/drawing/2014/main" id="{6AFAFBB9-ADC0-02EC-F17C-2A9C128D5DB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6524625" y="2593975"/>
            <a:ext cx="4448175" cy="2965450"/>
          </a:xfrm>
        </p:spPr>
      </p:pic>
    </p:spTree>
    <p:extLst>
      <p:ext uri="{BB962C8B-B14F-4D97-AF65-F5344CB8AC3E}">
        <p14:creationId xmlns:p14="http://schemas.microsoft.com/office/powerpoint/2010/main" val="5326386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F23054C6-463F-3F0C-DE61-2D3A1ABA6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sv-SE" dirty="0"/>
              <a:t>Corner </a:t>
            </a:r>
            <a:r>
              <a:rPr lang="sv-SE" dirty="0" err="1"/>
              <a:t>Ambiguity</a:t>
            </a:r>
            <a:endParaRPr lang="sv-SE" dirty="0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F6F365BC-3567-CA42-0601-8093F07EEE4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sv-SE" dirty="0" err="1"/>
              <a:t>Sometimes</a:t>
            </a:r>
            <a:r>
              <a:rPr lang="sv-SE" dirty="0"/>
              <a:t>, and </a:t>
            </a:r>
            <a:r>
              <a:rPr lang="sv-SE" dirty="0" err="1"/>
              <a:t>quite</a:t>
            </a:r>
            <a:r>
              <a:rPr lang="sv-SE" dirty="0"/>
              <a:t> </a:t>
            </a:r>
            <a:r>
              <a:rPr lang="sv-SE" dirty="0" err="1"/>
              <a:t>often</a:t>
            </a:r>
            <a:r>
              <a:rPr lang="sv-SE" dirty="0"/>
              <a:t>, in the </a:t>
            </a:r>
            <a:r>
              <a:rPr lang="sv-SE" dirty="0" err="1"/>
              <a:t>first</a:t>
            </a:r>
            <a:r>
              <a:rPr lang="sv-SE" dirty="0"/>
              <a:t> implementation, </a:t>
            </a:r>
            <a:r>
              <a:rPr lang="sv-SE" dirty="0" err="1"/>
              <a:t>corners</a:t>
            </a:r>
            <a:r>
              <a:rPr lang="sv-SE" dirty="0"/>
              <a:t> </a:t>
            </a:r>
            <a:r>
              <a:rPr lang="sv-SE" dirty="0" err="1"/>
              <a:t>were</a:t>
            </a:r>
            <a:r>
              <a:rPr lang="sv-SE" dirty="0"/>
              <a:t> ”</a:t>
            </a:r>
            <a:r>
              <a:rPr lang="sv-SE" dirty="0" err="1"/>
              <a:t>switched</a:t>
            </a:r>
            <a:r>
              <a:rPr lang="sv-SE" dirty="0"/>
              <a:t>” </a:t>
            </a:r>
            <a:r>
              <a:rPr lang="sv-SE" dirty="0" err="1"/>
              <a:t>with</a:t>
            </a:r>
            <a:r>
              <a:rPr lang="sv-SE" dirty="0"/>
              <a:t> </a:t>
            </a:r>
            <a:r>
              <a:rPr lang="sv-SE" dirty="0" err="1"/>
              <a:t>each</a:t>
            </a:r>
            <a:r>
              <a:rPr lang="sv-SE" dirty="0"/>
              <a:t> </a:t>
            </a:r>
            <a:r>
              <a:rPr lang="sv-SE" dirty="0" err="1"/>
              <a:t>other</a:t>
            </a:r>
            <a:r>
              <a:rPr lang="sv-SE" dirty="0"/>
              <a:t>.</a:t>
            </a:r>
          </a:p>
          <a:p>
            <a:r>
              <a:rPr lang="sv-SE" dirty="0"/>
              <a:t>Most sensitive to the ”</a:t>
            </a:r>
            <a:r>
              <a:rPr lang="sv-SE" dirty="0" err="1"/>
              <a:t>switching</a:t>
            </a:r>
            <a:r>
              <a:rPr lang="sv-SE" dirty="0"/>
              <a:t>” </a:t>
            </a:r>
            <a:r>
              <a:rPr lang="sv-SE" dirty="0" err="1"/>
              <a:t>was</a:t>
            </a:r>
            <a:r>
              <a:rPr lang="sv-SE" dirty="0"/>
              <a:t> the </a:t>
            </a:r>
            <a:r>
              <a:rPr lang="sv-SE" dirty="0" err="1"/>
              <a:t>corners</a:t>
            </a:r>
            <a:r>
              <a:rPr lang="sv-SE" dirty="0"/>
              <a:t> </a:t>
            </a:r>
            <a:r>
              <a:rPr lang="sv-SE" dirty="0" err="1"/>
              <a:t>with</a:t>
            </a:r>
            <a:r>
              <a:rPr lang="sv-SE" dirty="0"/>
              <a:t> the </a:t>
            </a:r>
            <a:r>
              <a:rPr lang="sv-SE" dirty="0" err="1"/>
              <a:t>finder</a:t>
            </a:r>
            <a:r>
              <a:rPr lang="sv-SE" dirty="0"/>
              <a:t> </a:t>
            </a:r>
            <a:r>
              <a:rPr lang="sv-SE" dirty="0" err="1"/>
              <a:t>pattern</a:t>
            </a:r>
            <a:r>
              <a:rPr lang="sv-SE" dirty="0"/>
              <a:t>, </a:t>
            </a:r>
            <a:r>
              <a:rPr lang="sv-SE" dirty="0" err="1"/>
              <a:t>while</a:t>
            </a:r>
            <a:r>
              <a:rPr lang="sv-SE" dirty="0"/>
              <a:t> the </a:t>
            </a:r>
            <a:r>
              <a:rPr lang="sv-SE" dirty="0" err="1"/>
              <a:t>odd</a:t>
            </a:r>
            <a:r>
              <a:rPr lang="sv-SE" dirty="0"/>
              <a:t> corner </a:t>
            </a:r>
            <a:r>
              <a:rPr lang="sv-SE" dirty="0" err="1"/>
              <a:t>seldom</a:t>
            </a:r>
            <a:r>
              <a:rPr lang="sv-SE" dirty="0"/>
              <a:t> </a:t>
            </a:r>
            <a:r>
              <a:rPr lang="sv-SE" dirty="0" err="1"/>
              <a:t>become</a:t>
            </a:r>
            <a:r>
              <a:rPr lang="sv-SE" dirty="0"/>
              <a:t> ”</a:t>
            </a:r>
            <a:r>
              <a:rPr lang="sv-SE" dirty="0" err="1"/>
              <a:t>switched</a:t>
            </a:r>
            <a:r>
              <a:rPr lang="sv-SE" dirty="0"/>
              <a:t>”.</a:t>
            </a:r>
          </a:p>
          <a:p>
            <a:r>
              <a:rPr lang="sv-SE" dirty="0" err="1"/>
              <a:t>Can</a:t>
            </a:r>
            <a:r>
              <a:rPr lang="sv-SE" dirty="0"/>
              <a:t> </a:t>
            </a:r>
            <a:r>
              <a:rPr lang="sv-SE" dirty="0" err="1"/>
              <a:t>you</a:t>
            </a:r>
            <a:r>
              <a:rPr lang="sv-SE" dirty="0"/>
              <a:t> </a:t>
            </a:r>
            <a:r>
              <a:rPr lang="sv-SE" dirty="0" err="1"/>
              <a:t>guess</a:t>
            </a:r>
            <a:r>
              <a:rPr lang="sv-SE" dirty="0"/>
              <a:t> </a:t>
            </a:r>
            <a:r>
              <a:rPr lang="sv-SE" dirty="0" err="1"/>
              <a:t>why</a:t>
            </a:r>
            <a:r>
              <a:rPr lang="sv-SE" dirty="0"/>
              <a:t>?</a:t>
            </a:r>
          </a:p>
        </p:txBody>
      </p:sp>
      <p:pic>
        <p:nvPicPr>
          <p:cNvPr id="6" name="Platshållare för innehåll 5" descr="En bild som visar skärmbild, grafisk design, tecknad serie, Grafik&#10;&#10;AI-genererat innehåll kan vara felaktigt.">
            <a:extLst>
              <a:ext uri="{FF2B5EF4-FFF2-40B4-BE49-F238E27FC236}">
                <a16:creationId xmlns:a16="http://schemas.microsoft.com/office/drawing/2014/main" id="{F8E94009-F450-7307-7C89-63E18E506E4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524625" y="2593975"/>
            <a:ext cx="4448175" cy="2965450"/>
          </a:xfrm>
        </p:spPr>
      </p:pic>
    </p:spTree>
    <p:extLst>
      <p:ext uri="{BB962C8B-B14F-4D97-AF65-F5344CB8AC3E}">
        <p14:creationId xmlns:p14="http://schemas.microsoft.com/office/powerpoint/2010/main" val="11051626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D7D7B89-2C57-100E-419B-D7209AC87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sv-SE" dirty="0"/>
              <a:t>ASPP to the </a:t>
            </a:r>
            <a:r>
              <a:rPr lang="sv-SE" dirty="0" err="1"/>
              <a:t>Rescue</a:t>
            </a:r>
            <a:endParaRPr lang="sv-SE" dirty="0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C14CE8AB-5522-05E3-20D6-4F51F705C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v-SE" dirty="0" err="1"/>
              <a:t>One</a:t>
            </a:r>
            <a:r>
              <a:rPr lang="sv-SE" dirty="0"/>
              <a:t> drawback </a:t>
            </a:r>
            <a:r>
              <a:rPr lang="sv-SE" dirty="0" err="1"/>
              <a:t>with</a:t>
            </a:r>
            <a:r>
              <a:rPr lang="sv-SE" dirty="0"/>
              <a:t> (</a:t>
            </a:r>
            <a:r>
              <a:rPr lang="sv-SE" i="1" dirty="0" err="1"/>
              <a:t>shallow</a:t>
            </a:r>
            <a:r>
              <a:rPr lang="sv-SE" dirty="0"/>
              <a:t>) CNN-</a:t>
            </a:r>
            <a:r>
              <a:rPr lang="sv-SE" dirty="0" err="1"/>
              <a:t>based</a:t>
            </a:r>
            <a:r>
              <a:rPr lang="sv-SE" dirty="0"/>
              <a:t> </a:t>
            </a:r>
            <a:r>
              <a:rPr lang="sv-SE" dirty="0" err="1"/>
              <a:t>networks</a:t>
            </a:r>
            <a:r>
              <a:rPr lang="sv-SE" dirty="0"/>
              <a:t> </a:t>
            </a:r>
            <a:r>
              <a:rPr lang="sv-SE" dirty="0" err="1"/>
              <a:t>are</a:t>
            </a:r>
            <a:r>
              <a:rPr lang="sv-SE" dirty="0"/>
              <a:t> </a:t>
            </a:r>
            <a:r>
              <a:rPr lang="sv-SE" dirty="0" err="1"/>
              <a:t>their</a:t>
            </a:r>
            <a:r>
              <a:rPr lang="sv-SE" dirty="0"/>
              <a:t> </a:t>
            </a:r>
            <a:r>
              <a:rPr lang="sv-SE" dirty="0" err="1"/>
              <a:t>limited</a:t>
            </a:r>
            <a:r>
              <a:rPr lang="sv-SE" dirty="0"/>
              <a:t> receptive </a:t>
            </a:r>
            <a:r>
              <a:rPr lang="sv-SE" dirty="0" err="1"/>
              <a:t>field</a:t>
            </a:r>
            <a:r>
              <a:rPr lang="sv-SE" dirty="0"/>
              <a:t>.</a:t>
            </a:r>
          </a:p>
          <a:p>
            <a:pPr lvl="1"/>
            <a:r>
              <a:rPr lang="sv-SE" dirty="0"/>
              <a:t>The </a:t>
            </a:r>
            <a:r>
              <a:rPr lang="sv-SE" dirty="0" err="1"/>
              <a:t>network</a:t>
            </a:r>
            <a:r>
              <a:rPr lang="sv-SE" dirty="0"/>
              <a:t> </a:t>
            </a:r>
            <a:r>
              <a:rPr lang="sv-SE" dirty="0" err="1"/>
              <a:t>can</a:t>
            </a:r>
            <a:r>
              <a:rPr lang="sv-SE" dirty="0"/>
              <a:t> </a:t>
            </a:r>
            <a:r>
              <a:rPr lang="sv-SE" dirty="0" err="1"/>
              <a:t>easily</a:t>
            </a:r>
            <a:r>
              <a:rPr lang="sv-SE" dirty="0"/>
              <a:t> </a:t>
            </a:r>
            <a:r>
              <a:rPr lang="sv-SE" dirty="0" err="1"/>
              <a:t>identify</a:t>
            </a:r>
            <a:r>
              <a:rPr lang="sv-SE" dirty="0"/>
              <a:t> a corner </a:t>
            </a:r>
            <a:r>
              <a:rPr lang="sv-SE" dirty="0" err="1"/>
              <a:t>with</a:t>
            </a:r>
            <a:r>
              <a:rPr lang="sv-SE" dirty="0"/>
              <a:t> a </a:t>
            </a:r>
            <a:r>
              <a:rPr lang="sv-SE" dirty="0" err="1"/>
              <a:t>finder</a:t>
            </a:r>
            <a:r>
              <a:rPr lang="sv-SE" dirty="0"/>
              <a:t> </a:t>
            </a:r>
            <a:r>
              <a:rPr lang="sv-SE" dirty="0" err="1"/>
              <a:t>pattern</a:t>
            </a:r>
            <a:r>
              <a:rPr lang="sv-SE" dirty="0"/>
              <a:t>, </a:t>
            </a:r>
            <a:r>
              <a:rPr lang="sv-SE" dirty="0" err="1"/>
              <a:t>but</a:t>
            </a:r>
            <a:r>
              <a:rPr lang="sv-SE" dirty="0"/>
              <a:t> it </a:t>
            </a:r>
            <a:r>
              <a:rPr lang="sv-SE" dirty="0" err="1"/>
              <a:t>does</a:t>
            </a:r>
            <a:r>
              <a:rPr lang="sv-SE" dirty="0"/>
              <a:t> not </a:t>
            </a:r>
            <a:r>
              <a:rPr lang="sv-SE" dirty="0" err="1"/>
              <a:t>have</a:t>
            </a:r>
            <a:r>
              <a:rPr lang="sv-SE" dirty="0"/>
              <a:t> the </a:t>
            </a:r>
            <a:r>
              <a:rPr lang="sv-SE" dirty="0" err="1"/>
              <a:t>context</a:t>
            </a:r>
            <a:r>
              <a:rPr lang="sv-SE" dirty="0"/>
              <a:t> to understand </a:t>
            </a:r>
            <a:r>
              <a:rPr lang="sv-SE" dirty="0" err="1"/>
              <a:t>which</a:t>
            </a:r>
            <a:r>
              <a:rPr lang="sv-SE" dirty="0"/>
              <a:t> </a:t>
            </a:r>
            <a:r>
              <a:rPr lang="sv-SE" dirty="0" err="1"/>
              <a:t>of</a:t>
            </a:r>
            <a:r>
              <a:rPr lang="sv-SE" dirty="0"/>
              <a:t> the </a:t>
            </a:r>
            <a:r>
              <a:rPr lang="sv-SE" dirty="0" err="1"/>
              <a:t>corners</a:t>
            </a:r>
            <a:r>
              <a:rPr lang="sv-SE" dirty="0"/>
              <a:t> the </a:t>
            </a:r>
            <a:r>
              <a:rPr lang="sv-SE" dirty="0" err="1"/>
              <a:t>finder</a:t>
            </a:r>
            <a:r>
              <a:rPr lang="sv-SE" dirty="0"/>
              <a:t> </a:t>
            </a:r>
            <a:r>
              <a:rPr lang="sv-SE" dirty="0" err="1"/>
              <a:t>pattern</a:t>
            </a:r>
            <a:r>
              <a:rPr lang="sv-SE" dirty="0"/>
              <a:t> </a:t>
            </a:r>
            <a:r>
              <a:rPr lang="sv-SE" dirty="0" err="1"/>
              <a:t>belongs</a:t>
            </a:r>
            <a:r>
              <a:rPr lang="sv-SE" dirty="0"/>
              <a:t> to.</a:t>
            </a:r>
          </a:p>
          <a:p>
            <a:pPr lvl="1"/>
            <a:r>
              <a:rPr lang="sv-SE" dirty="0" err="1"/>
              <a:t>But</a:t>
            </a:r>
            <a:r>
              <a:rPr lang="sv-SE" dirty="0"/>
              <a:t> the </a:t>
            </a:r>
            <a:r>
              <a:rPr lang="sv-SE" dirty="0" err="1"/>
              <a:t>odd</a:t>
            </a:r>
            <a:r>
              <a:rPr lang="sv-SE" dirty="0"/>
              <a:t> corner is </a:t>
            </a:r>
            <a:r>
              <a:rPr lang="sv-SE" dirty="0" err="1"/>
              <a:t>unique</a:t>
            </a:r>
            <a:r>
              <a:rPr lang="sv-SE" dirty="0"/>
              <a:t>!</a:t>
            </a:r>
          </a:p>
          <a:p>
            <a:r>
              <a:rPr lang="sv-SE" dirty="0" err="1"/>
              <a:t>Atrous</a:t>
            </a:r>
            <a:r>
              <a:rPr lang="sv-SE" dirty="0"/>
              <a:t> Spatial Pyramid </a:t>
            </a:r>
            <a:r>
              <a:rPr lang="sv-SE" dirty="0" err="1"/>
              <a:t>Pooling</a:t>
            </a:r>
            <a:r>
              <a:rPr lang="sv-SE" dirty="0"/>
              <a:t> (ASPP) </a:t>
            </a:r>
            <a:r>
              <a:rPr lang="sv-SE" dirty="0" err="1"/>
              <a:t>enlarges</a:t>
            </a:r>
            <a:r>
              <a:rPr lang="sv-SE" dirty="0"/>
              <a:t> the receptive </a:t>
            </a:r>
            <a:r>
              <a:rPr lang="sv-SE" dirty="0" err="1"/>
              <a:t>field</a:t>
            </a:r>
            <a:r>
              <a:rPr lang="sv-SE" dirty="0"/>
              <a:t> by </a:t>
            </a:r>
            <a:r>
              <a:rPr lang="sv-SE" dirty="0" err="1"/>
              <a:t>performing</a:t>
            </a:r>
            <a:r>
              <a:rPr lang="sv-SE" dirty="0"/>
              <a:t> </a:t>
            </a:r>
            <a:r>
              <a:rPr lang="sv-SE" dirty="0" err="1"/>
              <a:t>dilated</a:t>
            </a:r>
            <a:r>
              <a:rPr lang="sv-SE" dirty="0"/>
              <a:t> (</a:t>
            </a:r>
            <a:r>
              <a:rPr lang="sv-SE" i="1" dirty="0" err="1"/>
              <a:t>atrous</a:t>
            </a:r>
            <a:r>
              <a:rPr lang="sv-SE" dirty="0"/>
              <a:t>) </a:t>
            </a:r>
            <a:r>
              <a:rPr lang="sv-SE" dirty="0" err="1"/>
              <a:t>convolutions</a:t>
            </a:r>
            <a:r>
              <a:rPr lang="sv-SE" dirty="0"/>
              <a:t> </a:t>
            </a:r>
            <a:r>
              <a:rPr lang="sv-SE" dirty="0" err="1"/>
              <a:t>with</a:t>
            </a:r>
            <a:r>
              <a:rPr lang="sv-SE" dirty="0"/>
              <a:t> different </a:t>
            </a:r>
            <a:r>
              <a:rPr lang="sv-SE" dirty="0" err="1"/>
              <a:t>dilation</a:t>
            </a:r>
            <a:r>
              <a:rPr lang="sv-SE" dirty="0"/>
              <a:t> rates on the </a:t>
            </a:r>
            <a:r>
              <a:rPr lang="sv-SE" dirty="0" err="1"/>
              <a:t>network</a:t>
            </a:r>
            <a:r>
              <a:rPr lang="sv-SE" dirty="0"/>
              <a:t> </a:t>
            </a:r>
            <a:r>
              <a:rPr lang="sv-SE" dirty="0" err="1"/>
              <a:t>bottleneck</a:t>
            </a:r>
            <a:r>
              <a:rPr lang="sv-SE" dirty="0"/>
              <a:t>.</a:t>
            </a:r>
          </a:p>
          <a:p>
            <a:pPr lvl="1"/>
            <a:r>
              <a:rPr lang="sv-SE" dirty="0" err="1"/>
              <a:t>Provides</a:t>
            </a:r>
            <a:r>
              <a:rPr lang="sv-SE" dirty="0"/>
              <a:t> multi-</a:t>
            </a:r>
            <a:r>
              <a:rPr lang="sv-SE" dirty="0" err="1"/>
              <a:t>scale</a:t>
            </a:r>
            <a:r>
              <a:rPr lang="sv-SE" dirty="0"/>
              <a:t> </a:t>
            </a:r>
            <a:r>
              <a:rPr lang="sv-SE" dirty="0" err="1"/>
              <a:t>context</a:t>
            </a:r>
            <a:r>
              <a:rPr lang="sv-SE" dirty="0"/>
              <a:t>, </a:t>
            </a:r>
            <a:r>
              <a:rPr lang="sv-SE" dirty="0" err="1"/>
              <a:t>with</a:t>
            </a:r>
            <a:r>
              <a:rPr lang="sv-SE" dirty="0"/>
              <a:t> </a:t>
            </a:r>
            <a:r>
              <a:rPr lang="sv-SE" dirty="0" err="1"/>
              <a:t>only</a:t>
            </a:r>
            <a:r>
              <a:rPr lang="sv-SE" dirty="0"/>
              <a:t> a </a:t>
            </a:r>
            <a:r>
              <a:rPr lang="sv-SE" dirty="0" err="1"/>
              <a:t>few</a:t>
            </a:r>
            <a:r>
              <a:rPr lang="sv-SE" dirty="0"/>
              <a:t> extra parameters.</a:t>
            </a:r>
          </a:p>
          <a:p>
            <a:pPr lvl="1"/>
            <a:r>
              <a:rPr lang="sv-SE" dirty="0"/>
              <a:t>The </a:t>
            </a:r>
            <a:r>
              <a:rPr lang="sv-SE" dirty="0" err="1"/>
              <a:t>Tiny</a:t>
            </a:r>
            <a:r>
              <a:rPr lang="sv-SE" dirty="0"/>
              <a:t> U-Net </a:t>
            </a:r>
            <a:r>
              <a:rPr lang="sv-SE" dirty="0" err="1"/>
              <a:t>increased</a:t>
            </a:r>
            <a:r>
              <a:rPr lang="sv-SE" dirty="0"/>
              <a:t> from 500 K parameters to 1.1 M parameters.</a:t>
            </a:r>
          </a:p>
        </p:txBody>
      </p:sp>
    </p:spTree>
    <p:extLst>
      <p:ext uri="{BB962C8B-B14F-4D97-AF65-F5344CB8AC3E}">
        <p14:creationId xmlns:p14="http://schemas.microsoft.com/office/powerpoint/2010/main" val="15654515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55881371-6D81-D7E2-59B0-253626185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sv-SE" dirty="0"/>
              <a:t>From </a:t>
            </a:r>
            <a:r>
              <a:rPr lang="sv-SE" dirty="0" err="1"/>
              <a:t>Playground</a:t>
            </a:r>
            <a:r>
              <a:rPr lang="sv-SE" dirty="0"/>
              <a:t> to Product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90309F2F-D6DB-C92F-BD7F-060CCD1676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v-SE" dirty="0" err="1"/>
              <a:t>Greater</a:t>
            </a:r>
            <a:r>
              <a:rPr lang="sv-SE" dirty="0"/>
              <a:t> variations </a:t>
            </a:r>
            <a:r>
              <a:rPr lang="sv-SE" dirty="0" err="1"/>
              <a:t>of</a:t>
            </a:r>
            <a:r>
              <a:rPr lang="sv-SE" dirty="0"/>
              <a:t> </a:t>
            </a:r>
            <a:r>
              <a:rPr lang="sv-SE" dirty="0" err="1"/>
              <a:t>codes</a:t>
            </a:r>
            <a:r>
              <a:rPr lang="sv-SE" dirty="0"/>
              <a:t> in the </a:t>
            </a:r>
            <a:r>
              <a:rPr lang="sv-SE" dirty="0" err="1"/>
              <a:t>training</a:t>
            </a:r>
            <a:r>
              <a:rPr lang="sv-SE" dirty="0"/>
              <a:t> and </a:t>
            </a:r>
            <a:r>
              <a:rPr lang="sv-SE" dirty="0" err="1"/>
              <a:t>validation</a:t>
            </a:r>
            <a:r>
              <a:rPr lang="sv-SE" dirty="0"/>
              <a:t> sets.</a:t>
            </a:r>
          </a:p>
          <a:p>
            <a:pPr lvl="1"/>
            <a:r>
              <a:rPr lang="sv-SE" dirty="0"/>
              <a:t>QR </a:t>
            </a:r>
            <a:r>
              <a:rPr lang="sv-SE" dirty="0" err="1"/>
              <a:t>codes</a:t>
            </a:r>
            <a:r>
              <a:rPr lang="sv-SE" dirty="0"/>
              <a:t> </a:t>
            </a:r>
            <a:r>
              <a:rPr lang="sv-SE" dirty="0" err="1"/>
              <a:t>with</a:t>
            </a:r>
            <a:r>
              <a:rPr lang="sv-SE" dirty="0"/>
              <a:t> </a:t>
            </a:r>
            <a:r>
              <a:rPr lang="sv-SE" dirty="0" err="1"/>
              <a:t>other</a:t>
            </a:r>
            <a:r>
              <a:rPr lang="sv-SE" dirty="0"/>
              <a:t> versions, and </a:t>
            </a:r>
            <a:r>
              <a:rPr lang="sv-SE" dirty="0" err="1"/>
              <a:t>other</a:t>
            </a:r>
            <a:r>
              <a:rPr lang="sv-SE" dirty="0"/>
              <a:t> variations in the </a:t>
            </a:r>
            <a:r>
              <a:rPr lang="sv-SE" dirty="0" err="1"/>
              <a:t>code</a:t>
            </a:r>
            <a:r>
              <a:rPr lang="sv-SE" dirty="0"/>
              <a:t> standard.</a:t>
            </a:r>
          </a:p>
          <a:p>
            <a:pPr lvl="1"/>
            <a:r>
              <a:rPr lang="sv-SE" dirty="0"/>
              <a:t>Data matrix </a:t>
            </a:r>
            <a:r>
              <a:rPr lang="sv-SE" dirty="0" err="1"/>
              <a:t>codes</a:t>
            </a:r>
            <a:r>
              <a:rPr lang="sv-SE" dirty="0"/>
              <a:t>. Data matrix is the </a:t>
            </a:r>
            <a:r>
              <a:rPr lang="sv-SE"/>
              <a:t>more </a:t>
            </a:r>
            <a:r>
              <a:rPr lang="sv-SE" dirty="0"/>
              <a:t>common </a:t>
            </a:r>
            <a:r>
              <a:rPr lang="sv-SE" dirty="0" err="1"/>
              <a:t>code</a:t>
            </a:r>
            <a:r>
              <a:rPr lang="sv-SE" dirty="0"/>
              <a:t> in </a:t>
            </a:r>
            <a:r>
              <a:rPr lang="sv-SE" dirty="0" err="1"/>
              <a:t>industrial</a:t>
            </a:r>
            <a:r>
              <a:rPr lang="sv-SE" dirty="0"/>
              <a:t> </a:t>
            </a:r>
            <a:r>
              <a:rPr lang="sv-SE" dirty="0" err="1"/>
              <a:t>applications</a:t>
            </a:r>
            <a:r>
              <a:rPr lang="sv-SE" dirty="0"/>
              <a:t>.</a:t>
            </a:r>
          </a:p>
          <a:p>
            <a:r>
              <a:rPr lang="sv-SE" dirty="0" err="1"/>
              <a:t>More</a:t>
            </a:r>
            <a:r>
              <a:rPr lang="sv-SE" dirty="0"/>
              <a:t> </a:t>
            </a:r>
            <a:r>
              <a:rPr lang="sv-SE" dirty="0" err="1"/>
              <a:t>advanced</a:t>
            </a:r>
            <a:r>
              <a:rPr lang="sv-SE" dirty="0"/>
              <a:t> </a:t>
            </a:r>
            <a:r>
              <a:rPr lang="sv-SE" dirty="0" err="1"/>
              <a:t>backgrounds</a:t>
            </a:r>
            <a:r>
              <a:rPr lang="sv-SE" dirty="0"/>
              <a:t>.</a:t>
            </a:r>
          </a:p>
          <a:p>
            <a:r>
              <a:rPr lang="sv-SE" dirty="0" err="1"/>
              <a:t>More</a:t>
            </a:r>
            <a:r>
              <a:rPr lang="sv-SE" dirty="0"/>
              <a:t> </a:t>
            </a:r>
            <a:r>
              <a:rPr lang="sv-SE" dirty="0" err="1"/>
              <a:t>advanced</a:t>
            </a:r>
            <a:r>
              <a:rPr lang="sv-SE" dirty="0"/>
              <a:t> </a:t>
            </a:r>
            <a:r>
              <a:rPr lang="sv-SE" dirty="0" err="1"/>
              <a:t>augmentations</a:t>
            </a:r>
            <a:r>
              <a:rPr lang="sv-SE" dirty="0"/>
              <a:t>.</a:t>
            </a:r>
          </a:p>
          <a:p>
            <a:r>
              <a:rPr lang="sv-SE" dirty="0"/>
              <a:t>Multi-</a:t>
            </a:r>
            <a:r>
              <a:rPr lang="sv-SE" dirty="0" err="1"/>
              <a:t>code</a:t>
            </a:r>
            <a:r>
              <a:rPr lang="sv-SE" dirty="0"/>
              <a:t> </a:t>
            </a:r>
            <a:r>
              <a:rPr lang="sv-SE" dirty="0" err="1"/>
              <a:t>detections</a:t>
            </a:r>
            <a:r>
              <a:rPr lang="sv-SE" dirty="0"/>
              <a:t>.</a:t>
            </a:r>
          </a:p>
          <a:p>
            <a:r>
              <a:rPr lang="sv-SE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354530115"/>
      </p:ext>
    </p:extLst>
  </p:cSld>
  <p:clrMapOvr>
    <a:masterClrMapping/>
  </p:clrMapOvr>
</p:sld>
</file>

<file path=ppt/theme/theme1.xml><?xml version="1.0" encoding="utf-8"?>
<a:theme xmlns:a="http://schemas.openxmlformats.org/drawingml/2006/main" name="Beskuren">
  <a:themeElements>
    <a:clrScheme name="Crop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rop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rop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Beskuren</Template>
  <TotalTime>255</TotalTime>
  <Words>612</Words>
  <Application>Microsoft Macintosh PowerPoint</Application>
  <PresentationFormat>Bredbild</PresentationFormat>
  <Paragraphs>89</Paragraphs>
  <Slides>10</Slides>
  <Notes>5</Notes>
  <HiddenSlides>0</HiddenSlides>
  <MMClips>0</MMClips>
  <ScaleCrop>false</ScaleCrop>
  <HeadingPairs>
    <vt:vector size="6" baseType="variant">
      <vt:variant>
        <vt:lpstr>Använt teckensnitt</vt:lpstr>
      </vt:variant>
      <vt:variant>
        <vt:i4>2</vt:i4>
      </vt:variant>
      <vt:variant>
        <vt:lpstr>Tema</vt:lpstr>
      </vt:variant>
      <vt:variant>
        <vt:i4>1</vt:i4>
      </vt:variant>
      <vt:variant>
        <vt:lpstr>Bildrubriker</vt:lpstr>
      </vt:variant>
      <vt:variant>
        <vt:i4>10</vt:i4>
      </vt:variant>
    </vt:vector>
  </HeadingPairs>
  <TitlesOfParts>
    <vt:vector size="13" baseType="lpstr">
      <vt:lpstr>Aptos</vt:lpstr>
      <vt:lpstr>Franklin Gothic Book</vt:lpstr>
      <vt:lpstr>Beskuren</vt:lpstr>
      <vt:lpstr>Playing with Corners</vt:lpstr>
      <vt:lpstr>QR Code Anatomy</vt:lpstr>
      <vt:lpstr>Catching Codes in the Wild</vt:lpstr>
      <vt:lpstr>Learning Based Approach for Corner Detection</vt:lpstr>
      <vt:lpstr>Network Architecture – Tiny U-Net (500K params)</vt:lpstr>
      <vt:lpstr>Choices for the Training Loop</vt:lpstr>
      <vt:lpstr>Evaluation of Predicted Corners</vt:lpstr>
      <vt:lpstr>Corner Ambiguity</vt:lpstr>
      <vt:lpstr>ASPP to the Rescue</vt:lpstr>
      <vt:lpstr>From Playground to Product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Patrik Sandahl</dc:creator>
  <cp:lastModifiedBy>Patrik Sandahl</cp:lastModifiedBy>
  <cp:revision>39</cp:revision>
  <dcterms:created xsi:type="dcterms:W3CDTF">2025-11-04T19:08:02Z</dcterms:created>
  <dcterms:modified xsi:type="dcterms:W3CDTF">2025-11-05T21:15:54Z</dcterms:modified>
</cp:coreProperties>
</file>